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8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  <p:sldId id="272" r:id="rId21"/>
    <p:sldId id="275" r:id="rId22"/>
    <p:sldId id="281" r:id="rId23"/>
    <p:sldId id="276" r:id="rId24"/>
    <p:sldId id="283" r:id="rId25"/>
    <p:sldId id="284" r:id="rId26"/>
    <p:sldId id="285" r:id="rId27"/>
    <p:sldId id="286" r:id="rId28"/>
    <p:sldId id="287" r:id="rId29"/>
    <p:sldId id="277" r:id="rId30"/>
    <p:sldId id="278" r:id="rId31"/>
    <p:sldId id="279" r:id="rId32"/>
    <p:sldId id="280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8FC181-3C5A-4061-B734-57FB30A6A4CF}" v="212" dt="2026-02-10T15:12:43.5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uti suresh" userId="e6e0bf4c911fa585" providerId="LiveId" clId="{5AB040AC-35A5-4ABF-97C7-3B5E1CE8F945}"/>
    <pc:docChg chg="undo custSel addSld delSld modSld">
      <pc:chgData name="shruti suresh" userId="e6e0bf4c911fa585" providerId="LiveId" clId="{5AB040AC-35A5-4ABF-97C7-3B5E1CE8F945}" dt="2026-02-10T15:19:04.929" v="4659" actId="20577"/>
      <pc:docMkLst>
        <pc:docMk/>
      </pc:docMkLst>
      <pc:sldChg chg="addSp delSp modSp mod modTransition">
        <pc:chgData name="shruti suresh" userId="e6e0bf4c911fa585" providerId="LiveId" clId="{5AB040AC-35A5-4ABF-97C7-3B5E1CE8F945}" dt="2026-01-20T02:33:04.692" v="3743"/>
        <pc:sldMkLst>
          <pc:docMk/>
          <pc:sldMk cId="2569777908" sldId="256"/>
        </pc:sldMkLst>
        <pc:spChg chg="mod">
          <ac:chgData name="shruti suresh" userId="e6e0bf4c911fa585" providerId="LiveId" clId="{5AB040AC-35A5-4ABF-97C7-3B5E1CE8F945}" dt="2026-01-20T02:29:59.725" v="3720"/>
          <ac:spMkLst>
            <pc:docMk/>
            <pc:sldMk cId="2569777908" sldId="256"/>
            <ac:spMk id="2" creationId="{4397408A-278C-BEA8-356D-51B0858B51BD}"/>
          </ac:spMkLst>
        </pc:spChg>
        <pc:spChg chg="mod">
          <ac:chgData name="shruti suresh" userId="e6e0bf4c911fa585" providerId="LiveId" clId="{5AB040AC-35A5-4ABF-97C7-3B5E1CE8F945}" dt="2026-01-20T02:29:59.782" v="3721" actId="27636"/>
          <ac:spMkLst>
            <pc:docMk/>
            <pc:sldMk cId="2569777908" sldId="256"/>
            <ac:spMk id="3" creationId="{49BB09B6-AD43-3B7E-6267-E3A08B4ABAF8}"/>
          </ac:spMkLst>
        </pc:spChg>
      </pc:sldChg>
      <pc:sldChg chg="modSp new mod">
        <pc:chgData name="shruti suresh" userId="e6e0bf4c911fa585" providerId="LiveId" clId="{5AB040AC-35A5-4ABF-97C7-3B5E1CE8F945}" dt="2026-01-20T02:29:59.725" v="3720"/>
        <pc:sldMkLst>
          <pc:docMk/>
          <pc:sldMk cId="3104266229" sldId="257"/>
        </pc:sldMkLst>
        <pc:spChg chg="mod">
          <ac:chgData name="shruti suresh" userId="e6e0bf4c911fa585" providerId="LiveId" clId="{5AB040AC-35A5-4ABF-97C7-3B5E1CE8F945}" dt="2026-01-20T02:29:59.725" v="3720"/>
          <ac:spMkLst>
            <pc:docMk/>
            <pc:sldMk cId="3104266229" sldId="257"/>
            <ac:spMk id="2" creationId="{AE089BE8-E21F-A135-A3B6-4A2BC12F6211}"/>
          </ac:spMkLst>
        </pc:spChg>
        <pc:spChg chg="mod">
          <ac:chgData name="shruti suresh" userId="e6e0bf4c911fa585" providerId="LiveId" clId="{5AB040AC-35A5-4ABF-97C7-3B5E1CE8F945}" dt="2026-01-19T10:14:20.554" v="17" actId="14100"/>
          <ac:spMkLst>
            <pc:docMk/>
            <pc:sldMk cId="3104266229" sldId="257"/>
            <ac:spMk id="3" creationId="{76240DCB-EA0D-D9D3-D976-56658A16FD32}"/>
          </ac:spMkLst>
        </pc:spChg>
      </pc:sldChg>
      <pc:sldChg chg="modSp new mod">
        <pc:chgData name="shruti suresh" userId="e6e0bf4c911fa585" providerId="LiveId" clId="{5AB040AC-35A5-4ABF-97C7-3B5E1CE8F945}" dt="2026-01-20T15:01:20.545" v="3762" actId="14100"/>
        <pc:sldMkLst>
          <pc:docMk/>
          <pc:sldMk cId="3907980138" sldId="258"/>
        </pc:sldMkLst>
        <pc:spChg chg="mod">
          <ac:chgData name="shruti suresh" userId="e6e0bf4c911fa585" providerId="LiveId" clId="{5AB040AC-35A5-4ABF-97C7-3B5E1CE8F945}" dt="2026-01-19T10:30:43.455" v="47" actId="14100"/>
          <ac:spMkLst>
            <pc:docMk/>
            <pc:sldMk cId="3907980138" sldId="258"/>
            <ac:spMk id="2" creationId="{86507644-46B4-1AB2-BE0A-A9FAFA04739F}"/>
          </ac:spMkLst>
        </pc:spChg>
        <pc:spChg chg="mod">
          <ac:chgData name="shruti suresh" userId="e6e0bf4c911fa585" providerId="LiveId" clId="{5AB040AC-35A5-4ABF-97C7-3B5E1CE8F945}" dt="2026-01-20T15:01:20.545" v="3762" actId="14100"/>
          <ac:spMkLst>
            <pc:docMk/>
            <pc:sldMk cId="3907980138" sldId="258"/>
            <ac:spMk id="3" creationId="{06A29FE4-DF2E-E4D0-F854-6200AE74FD91}"/>
          </ac:spMkLst>
        </pc:spChg>
      </pc:sldChg>
      <pc:sldChg chg="modSp new mod">
        <pc:chgData name="shruti suresh" userId="e6e0bf4c911fa585" providerId="LiveId" clId="{5AB040AC-35A5-4ABF-97C7-3B5E1CE8F945}" dt="2026-01-20T02:29:59.814" v="3722" actId="27636"/>
        <pc:sldMkLst>
          <pc:docMk/>
          <pc:sldMk cId="2813561334" sldId="259"/>
        </pc:sldMkLst>
        <pc:spChg chg="mod">
          <ac:chgData name="shruti suresh" userId="e6e0bf4c911fa585" providerId="LiveId" clId="{5AB040AC-35A5-4ABF-97C7-3B5E1CE8F945}" dt="2026-01-20T02:29:59.725" v="3720"/>
          <ac:spMkLst>
            <pc:docMk/>
            <pc:sldMk cId="2813561334" sldId="259"/>
            <ac:spMk id="2" creationId="{847AB2E1-E19D-9964-ACAF-48D87930A487}"/>
          </ac:spMkLst>
        </pc:spChg>
        <pc:spChg chg="mod">
          <ac:chgData name="shruti suresh" userId="e6e0bf4c911fa585" providerId="LiveId" clId="{5AB040AC-35A5-4ABF-97C7-3B5E1CE8F945}" dt="2026-01-20T02:29:59.814" v="3722" actId="27636"/>
          <ac:spMkLst>
            <pc:docMk/>
            <pc:sldMk cId="2813561334" sldId="259"/>
            <ac:spMk id="3" creationId="{E98783E6-102B-9773-99FB-3189D01893CF}"/>
          </ac:spMkLst>
        </pc:spChg>
      </pc:sldChg>
      <pc:sldChg chg="modSp new mod">
        <pc:chgData name="shruti suresh" userId="e6e0bf4c911fa585" providerId="LiveId" clId="{5AB040AC-35A5-4ABF-97C7-3B5E1CE8F945}" dt="2026-01-20T02:29:59.838" v="3723" actId="27636"/>
        <pc:sldMkLst>
          <pc:docMk/>
          <pc:sldMk cId="3361070525" sldId="260"/>
        </pc:sldMkLst>
        <pc:spChg chg="mod">
          <ac:chgData name="shruti suresh" userId="e6e0bf4c911fa585" providerId="LiveId" clId="{5AB040AC-35A5-4ABF-97C7-3B5E1CE8F945}" dt="2026-01-19T12:10:57.813" v="198" actId="14100"/>
          <ac:spMkLst>
            <pc:docMk/>
            <pc:sldMk cId="3361070525" sldId="260"/>
            <ac:spMk id="2" creationId="{4F0E07B2-3EC1-4C9E-C847-A604895E4868}"/>
          </ac:spMkLst>
        </pc:spChg>
        <pc:spChg chg="mod">
          <ac:chgData name="shruti suresh" userId="e6e0bf4c911fa585" providerId="LiveId" clId="{5AB040AC-35A5-4ABF-97C7-3B5E1CE8F945}" dt="2026-01-20T02:29:59.838" v="3723" actId="27636"/>
          <ac:spMkLst>
            <pc:docMk/>
            <pc:sldMk cId="3361070525" sldId="260"/>
            <ac:spMk id="3" creationId="{385246B1-2FCF-AB88-73E0-006FF7686C47}"/>
          </ac:spMkLst>
        </pc:spChg>
      </pc:sldChg>
      <pc:sldChg chg="delSp modSp new mod">
        <pc:chgData name="shruti suresh" userId="e6e0bf4c911fa585" providerId="LiveId" clId="{5AB040AC-35A5-4ABF-97C7-3B5E1CE8F945}" dt="2026-02-10T15:17:50.421" v="4603" actId="20577"/>
        <pc:sldMkLst>
          <pc:docMk/>
          <pc:sldMk cId="1921584247" sldId="261"/>
        </pc:sldMkLst>
        <pc:spChg chg="mod">
          <ac:chgData name="shruti suresh" userId="e6e0bf4c911fa585" providerId="LiveId" clId="{5AB040AC-35A5-4ABF-97C7-3B5E1CE8F945}" dt="2026-02-10T15:17:50.421" v="4603" actId="20577"/>
          <ac:spMkLst>
            <pc:docMk/>
            <pc:sldMk cId="1921584247" sldId="261"/>
            <ac:spMk id="3" creationId="{DBB8D9FE-16CC-304C-81B8-299CD48015C3}"/>
          </ac:spMkLst>
        </pc:spChg>
      </pc:sldChg>
      <pc:sldChg chg="addSp delSp modSp new mod">
        <pc:chgData name="shruti suresh" userId="e6e0bf4c911fa585" providerId="LiveId" clId="{5AB040AC-35A5-4ABF-97C7-3B5E1CE8F945}" dt="2026-02-10T15:18:20.807" v="4624" actId="20577"/>
        <pc:sldMkLst>
          <pc:docMk/>
          <pc:sldMk cId="1109935959" sldId="262"/>
        </pc:sldMkLst>
        <pc:spChg chg="mod">
          <ac:chgData name="shruti suresh" userId="e6e0bf4c911fa585" providerId="LiveId" clId="{5AB040AC-35A5-4ABF-97C7-3B5E1CE8F945}" dt="2026-01-20T02:29:59.725" v="3720"/>
          <ac:spMkLst>
            <pc:docMk/>
            <pc:sldMk cId="1109935959" sldId="262"/>
            <ac:spMk id="2" creationId="{ECB94805-42AE-A1A5-1500-E7FFFA587A56}"/>
          </ac:spMkLst>
        </pc:spChg>
        <pc:spChg chg="add mod">
          <ac:chgData name="shruti suresh" userId="e6e0bf4c911fa585" providerId="LiveId" clId="{5AB040AC-35A5-4ABF-97C7-3B5E1CE8F945}" dt="2026-02-10T15:18:20.807" v="4624" actId="20577"/>
          <ac:spMkLst>
            <pc:docMk/>
            <pc:sldMk cId="1109935959" sldId="262"/>
            <ac:spMk id="4" creationId="{70E25A18-BB6C-086D-2F25-0B4D6621CA05}"/>
          </ac:spMkLst>
        </pc:spChg>
      </pc:sldChg>
      <pc:sldChg chg="addSp delSp modSp new mod modClrScheme chgLayout">
        <pc:chgData name="shruti suresh" userId="e6e0bf4c911fa585" providerId="LiveId" clId="{5AB040AC-35A5-4ABF-97C7-3B5E1CE8F945}" dt="2026-01-20T02:30:49.820" v="3733" actId="1076"/>
        <pc:sldMkLst>
          <pc:docMk/>
          <pc:sldMk cId="968969107" sldId="263"/>
        </pc:sldMkLst>
        <pc:spChg chg="mod ord">
          <ac:chgData name="shruti suresh" userId="e6e0bf4c911fa585" providerId="LiveId" clId="{5AB040AC-35A5-4ABF-97C7-3B5E1CE8F945}" dt="2026-01-19T22:45:50.365" v="1937" actId="700"/>
          <ac:spMkLst>
            <pc:docMk/>
            <pc:sldMk cId="968969107" sldId="263"/>
            <ac:spMk id="2" creationId="{43102345-E7BE-3987-4549-4A5CD4E40E37}"/>
          </ac:spMkLst>
        </pc:spChg>
        <pc:spChg chg="add mod">
          <ac:chgData name="shruti suresh" userId="e6e0bf4c911fa585" providerId="LiveId" clId="{5AB040AC-35A5-4ABF-97C7-3B5E1CE8F945}" dt="2026-01-19T22:48:22.076" v="2004" actId="255"/>
          <ac:spMkLst>
            <pc:docMk/>
            <pc:sldMk cId="968969107" sldId="263"/>
            <ac:spMk id="11" creationId="{BDABE0DC-AA0E-89AF-27BD-5DCDC609FE57}"/>
          </ac:spMkLst>
        </pc:spChg>
        <pc:graphicFrameChg chg="add mod ord modGraphic">
          <ac:chgData name="shruti suresh" userId="e6e0bf4c911fa585" providerId="LiveId" clId="{5AB040AC-35A5-4ABF-97C7-3B5E1CE8F945}" dt="2026-01-20T02:29:59.725" v="3720"/>
          <ac:graphicFrameMkLst>
            <pc:docMk/>
            <pc:sldMk cId="968969107" sldId="263"/>
            <ac:graphicFrameMk id="7" creationId="{E528EEAA-4BD3-4132-6F8E-66AC8A085F83}"/>
          </ac:graphicFrameMkLst>
        </pc:graphicFrameChg>
        <pc:graphicFrameChg chg="add mod modGraphic">
          <ac:chgData name="shruti suresh" userId="e6e0bf4c911fa585" providerId="LiveId" clId="{5AB040AC-35A5-4ABF-97C7-3B5E1CE8F945}" dt="2026-01-20T02:30:27.959" v="3732" actId="1076"/>
          <ac:graphicFrameMkLst>
            <pc:docMk/>
            <pc:sldMk cId="968969107" sldId="263"/>
            <ac:graphicFrameMk id="8" creationId="{FF540FEA-68AA-B9BF-55DA-D3B30C99F54B}"/>
          </ac:graphicFrameMkLst>
        </pc:graphicFrameChg>
        <pc:graphicFrameChg chg="add mod modGraphic">
          <ac:chgData name="shruti suresh" userId="e6e0bf4c911fa585" providerId="LiveId" clId="{5AB040AC-35A5-4ABF-97C7-3B5E1CE8F945}" dt="2026-01-20T02:30:49.820" v="3733" actId="1076"/>
          <ac:graphicFrameMkLst>
            <pc:docMk/>
            <pc:sldMk cId="968969107" sldId="263"/>
            <ac:graphicFrameMk id="9" creationId="{BEA45DA4-4192-83C5-E929-0538B3B0C571}"/>
          </ac:graphicFrameMkLst>
        </pc:graphicFrameChg>
      </pc:sldChg>
      <pc:sldChg chg="addSp delSp modSp new mod">
        <pc:chgData name="shruti suresh" userId="e6e0bf4c911fa585" providerId="LiveId" clId="{5AB040AC-35A5-4ABF-97C7-3B5E1CE8F945}" dt="2026-01-20T02:29:59.858" v="3724" actId="27636"/>
        <pc:sldMkLst>
          <pc:docMk/>
          <pc:sldMk cId="2710959088" sldId="264"/>
        </pc:sldMkLst>
        <pc:spChg chg="mod">
          <ac:chgData name="shruti suresh" userId="e6e0bf4c911fa585" providerId="LiveId" clId="{5AB040AC-35A5-4ABF-97C7-3B5E1CE8F945}" dt="2026-01-20T02:29:59.858" v="3724" actId="27636"/>
          <ac:spMkLst>
            <pc:docMk/>
            <pc:sldMk cId="2710959088" sldId="264"/>
            <ac:spMk id="3" creationId="{75F5FA43-D16F-C482-2793-9E8F62439C9B}"/>
          </ac:spMkLst>
        </pc:spChg>
      </pc:sldChg>
      <pc:sldChg chg="addSp delSp modSp new mod">
        <pc:chgData name="shruti suresh" userId="e6e0bf4c911fa585" providerId="LiveId" clId="{5AB040AC-35A5-4ABF-97C7-3B5E1CE8F945}" dt="2026-01-19T23:12:06.222" v="2526" actId="20577"/>
        <pc:sldMkLst>
          <pc:docMk/>
          <pc:sldMk cId="2034702803" sldId="265"/>
        </pc:sldMkLst>
        <pc:spChg chg="mod">
          <ac:chgData name="shruti suresh" userId="e6e0bf4c911fa585" providerId="LiveId" clId="{5AB040AC-35A5-4ABF-97C7-3B5E1CE8F945}" dt="2026-01-19T22:57:17.962" v="2112" actId="5793"/>
          <ac:spMkLst>
            <pc:docMk/>
            <pc:sldMk cId="2034702803" sldId="265"/>
            <ac:spMk id="3" creationId="{D361AE9C-1637-A2C6-8E4B-5410923586D3}"/>
          </ac:spMkLst>
        </pc:spChg>
        <pc:graphicFrameChg chg="add">
          <ac:chgData name="shruti suresh" userId="e6e0bf4c911fa585" providerId="LiveId" clId="{5AB040AC-35A5-4ABF-97C7-3B5E1CE8F945}" dt="2026-01-19T22:58:18.071" v="2113" actId="3680"/>
          <ac:graphicFrameMkLst>
            <pc:docMk/>
            <pc:sldMk cId="2034702803" sldId="265"/>
            <ac:graphicFrameMk id="5" creationId="{2EF6E754-A8DC-269B-123D-3A6D7E04F41D}"/>
          </ac:graphicFrameMkLst>
        </pc:graphicFrameChg>
        <pc:graphicFrameChg chg="add mod modGraphic">
          <ac:chgData name="shruti suresh" userId="e6e0bf4c911fa585" providerId="LiveId" clId="{5AB040AC-35A5-4ABF-97C7-3B5E1CE8F945}" dt="2026-01-19T23:12:06.222" v="2526" actId="20577"/>
          <ac:graphicFrameMkLst>
            <pc:docMk/>
            <pc:sldMk cId="2034702803" sldId="265"/>
            <ac:graphicFrameMk id="6" creationId="{AA509AF8-486C-CB64-2742-C8E48DCF330E}"/>
          </ac:graphicFrameMkLst>
        </pc:graphicFrameChg>
        <pc:graphicFrameChg chg="add mod modGraphic">
          <ac:chgData name="shruti suresh" userId="e6e0bf4c911fa585" providerId="LiveId" clId="{5AB040AC-35A5-4ABF-97C7-3B5E1CE8F945}" dt="2026-01-19T23:10:42.015" v="2484" actId="113"/>
          <ac:graphicFrameMkLst>
            <pc:docMk/>
            <pc:sldMk cId="2034702803" sldId="265"/>
            <ac:graphicFrameMk id="7" creationId="{A4656AD7-84A5-B50C-AB38-23C56C66323D}"/>
          </ac:graphicFrameMkLst>
        </pc:graphicFrameChg>
        <pc:graphicFrameChg chg="add mod modGraphic">
          <ac:chgData name="shruti suresh" userId="e6e0bf4c911fa585" providerId="LiveId" clId="{5AB040AC-35A5-4ABF-97C7-3B5E1CE8F945}" dt="2026-01-19T23:10:58.523" v="2487" actId="20577"/>
          <ac:graphicFrameMkLst>
            <pc:docMk/>
            <pc:sldMk cId="2034702803" sldId="265"/>
            <ac:graphicFrameMk id="8" creationId="{EC391CC9-1239-5D08-1C79-2ACBBAFB7715}"/>
          </ac:graphicFrameMkLst>
        </pc:graphicFrameChg>
      </pc:sldChg>
      <pc:sldChg chg="addSp delSp modSp new mod">
        <pc:chgData name="shruti suresh" userId="e6e0bf4c911fa585" providerId="LiveId" clId="{5AB040AC-35A5-4ABF-97C7-3B5E1CE8F945}" dt="2026-01-20T02:31:32.633" v="3741" actId="1036"/>
        <pc:sldMkLst>
          <pc:docMk/>
          <pc:sldMk cId="2571610667" sldId="266"/>
        </pc:sldMkLst>
        <pc:spChg chg="mod">
          <ac:chgData name="shruti suresh" userId="e6e0bf4c911fa585" providerId="LiveId" clId="{5AB040AC-35A5-4ABF-97C7-3B5E1CE8F945}" dt="2026-01-19T23:28:14.070" v="2701" actId="27636"/>
          <ac:spMkLst>
            <pc:docMk/>
            <pc:sldMk cId="2571610667" sldId="266"/>
            <ac:spMk id="2" creationId="{6CB88005-6A3D-9505-8348-936B5E370424}"/>
          </ac:spMkLst>
        </pc:spChg>
        <pc:spChg chg="add mod">
          <ac:chgData name="shruti suresh" userId="e6e0bf4c911fa585" providerId="LiveId" clId="{5AB040AC-35A5-4ABF-97C7-3B5E1CE8F945}" dt="2026-01-20T02:31:32.633" v="3741" actId="1036"/>
          <ac:spMkLst>
            <pc:docMk/>
            <pc:sldMk cId="2571610667" sldId="266"/>
            <ac:spMk id="4" creationId="{B8A1D976-C64A-4013-3F49-5CADE6B9C07F}"/>
          </ac:spMkLst>
        </pc:spChg>
      </pc:sldChg>
      <pc:sldChg chg="addSp delSp modSp new mod">
        <pc:chgData name="shruti suresh" userId="e6e0bf4c911fa585" providerId="LiveId" clId="{5AB040AC-35A5-4ABF-97C7-3B5E1CE8F945}" dt="2026-01-19T23:55:24.445" v="3159" actId="113"/>
        <pc:sldMkLst>
          <pc:docMk/>
          <pc:sldMk cId="430351846" sldId="267"/>
        </pc:sldMkLst>
        <pc:spChg chg="mod">
          <ac:chgData name="shruti suresh" userId="e6e0bf4c911fa585" providerId="LiveId" clId="{5AB040AC-35A5-4ABF-97C7-3B5E1CE8F945}" dt="2026-01-19T23:55:24.445" v="3159" actId="113"/>
          <ac:spMkLst>
            <pc:docMk/>
            <pc:sldMk cId="430351846" sldId="267"/>
            <ac:spMk id="2" creationId="{6C86494C-E229-1490-4927-0BBB80C78541}"/>
          </ac:spMkLst>
        </pc:spChg>
        <pc:spChg chg="mod">
          <ac:chgData name="shruti suresh" userId="e6e0bf4c911fa585" providerId="LiveId" clId="{5AB040AC-35A5-4ABF-97C7-3B5E1CE8F945}" dt="2026-01-19T23:54:22.649" v="3128" actId="14100"/>
          <ac:spMkLst>
            <pc:docMk/>
            <pc:sldMk cId="430351846" sldId="267"/>
            <ac:spMk id="3" creationId="{4663816D-F39F-817B-F5A1-B6EC5EA4BA14}"/>
          </ac:spMkLst>
        </pc:spChg>
        <pc:spChg chg="add mod">
          <ac:chgData name="shruti suresh" userId="e6e0bf4c911fa585" providerId="LiveId" clId="{5AB040AC-35A5-4ABF-97C7-3B5E1CE8F945}" dt="2026-01-19T23:53:58.840" v="3111" actId="20577"/>
          <ac:spMkLst>
            <pc:docMk/>
            <pc:sldMk cId="430351846" sldId="267"/>
            <ac:spMk id="8" creationId="{8A112C80-74D6-56EB-A30C-4BF28CB2F1A6}"/>
          </ac:spMkLst>
        </pc:spChg>
        <pc:spChg chg="add mod">
          <ac:chgData name="shruti suresh" userId="e6e0bf4c911fa585" providerId="LiveId" clId="{5AB040AC-35A5-4ABF-97C7-3B5E1CE8F945}" dt="2026-01-19T23:54:17.107" v="3127" actId="20577"/>
          <ac:spMkLst>
            <pc:docMk/>
            <pc:sldMk cId="430351846" sldId="267"/>
            <ac:spMk id="9" creationId="{34D64FAB-25AB-138D-0677-18841DCE3EF3}"/>
          </ac:spMkLst>
        </pc:spChg>
        <pc:spChg chg="add mod">
          <ac:chgData name="shruti suresh" userId="e6e0bf4c911fa585" providerId="LiveId" clId="{5AB040AC-35A5-4ABF-97C7-3B5E1CE8F945}" dt="2026-01-19T23:50:22.630" v="3086"/>
          <ac:spMkLst>
            <pc:docMk/>
            <pc:sldMk cId="430351846" sldId="267"/>
            <ac:spMk id="10" creationId="{48109136-EC72-9FA6-7E89-3C16C08D2342}"/>
          </ac:spMkLst>
        </pc:spChg>
        <pc:spChg chg="add mod">
          <ac:chgData name="shruti suresh" userId="e6e0bf4c911fa585" providerId="LiveId" clId="{5AB040AC-35A5-4ABF-97C7-3B5E1CE8F945}" dt="2026-01-19T23:54:31.921" v="3131" actId="20577"/>
          <ac:spMkLst>
            <pc:docMk/>
            <pc:sldMk cId="430351846" sldId="267"/>
            <ac:spMk id="11" creationId="{C61C19AD-274B-ECC8-4182-ABFF8940ED8B}"/>
          </ac:spMkLst>
        </pc:spChg>
        <pc:spChg chg="add mod">
          <ac:chgData name="shruti suresh" userId="e6e0bf4c911fa585" providerId="LiveId" clId="{5AB040AC-35A5-4ABF-97C7-3B5E1CE8F945}" dt="2026-01-19T23:49:51.213" v="3084"/>
          <ac:spMkLst>
            <pc:docMk/>
            <pc:sldMk cId="430351846" sldId="267"/>
            <ac:spMk id="12" creationId="{262FC940-C0B3-4797-D845-E97C90E79C6E}"/>
          </ac:spMkLst>
        </pc:spChg>
        <pc:spChg chg="add mod">
          <ac:chgData name="shruti suresh" userId="e6e0bf4c911fa585" providerId="LiveId" clId="{5AB040AC-35A5-4ABF-97C7-3B5E1CE8F945}" dt="2026-01-19T23:54:37.218" v="3135" actId="20577"/>
          <ac:spMkLst>
            <pc:docMk/>
            <pc:sldMk cId="430351846" sldId="267"/>
            <ac:spMk id="13" creationId="{B563BF1A-F5CC-465E-6F9A-7FCC4B9F0076}"/>
          </ac:spMkLst>
        </pc:spChg>
        <pc:spChg chg="add mod">
          <ac:chgData name="shruti suresh" userId="e6e0bf4c911fa585" providerId="LiveId" clId="{5AB040AC-35A5-4ABF-97C7-3B5E1CE8F945}" dt="2026-01-19T23:54:42.020" v="3139" actId="20577"/>
          <ac:spMkLst>
            <pc:docMk/>
            <pc:sldMk cId="430351846" sldId="267"/>
            <ac:spMk id="14" creationId="{E3335F01-832B-E5AF-5156-7DF8D75DCC24}"/>
          </ac:spMkLst>
        </pc:spChg>
        <pc:spChg chg="add mod">
          <ac:chgData name="shruti suresh" userId="e6e0bf4c911fa585" providerId="LiveId" clId="{5AB040AC-35A5-4ABF-97C7-3B5E1CE8F945}" dt="2026-01-19T23:54:45.493" v="3142" actId="20577"/>
          <ac:spMkLst>
            <pc:docMk/>
            <pc:sldMk cId="430351846" sldId="267"/>
            <ac:spMk id="15" creationId="{1E56A019-7E5C-275A-AA55-4E289F5AA201}"/>
          </ac:spMkLst>
        </pc:spChg>
        <pc:spChg chg="add mod">
          <ac:chgData name="shruti suresh" userId="e6e0bf4c911fa585" providerId="LiveId" clId="{5AB040AC-35A5-4ABF-97C7-3B5E1CE8F945}" dt="2026-01-19T23:51:43.915" v="3095"/>
          <ac:spMkLst>
            <pc:docMk/>
            <pc:sldMk cId="430351846" sldId="267"/>
            <ac:spMk id="16" creationId="{BD5C6F49-2537-085F-71CF-52BD5DEF5333}"/>
          </ac:spMkLst>
        </pc:spChg>
        <pc:spChg chg="add mod">
          <ac:chgData name="shruti suresh" userId="e6e0bf4c911fa585" providerId="LiveId" clId="{5AB040AC-35A5-4ABF-97C7-3B5E1CE8F945}" dt="2026-01-19T23:51:54.999" v="3096"/>
          <ac:spMkLst>
            <pc:docMk/>
            <pc:sldMk cId="430351846" sldId="267"/>
            <ac:spMk id="17" creationId="{39B8F3DE-8678-508A-C7D7-939E09122FDA}"/>
          </ac:spMkLst>
        </pc:spChg>
        <pc:spChg chg="add">
          <ac:chgData name="shruti suresh" userId="e6e0bf4c911fa585" providerId="LiveId" clId="{5AB040AC-35A5-4ABF-97C7-3B5E1CE8F945}" dt="2026-01-19T23:52:28.691" v="3097" actId="11529"/>
          <ac:spMkLst>
            <pc:docMk/>
            <pc:sldMk cId="430351846" sldId="267"/>
            <ac:spMk id="18" creationId="{EB9A2FA0-B347-B6B3-09AD-869C260A7E16}"/>
          </ac:spMkLst>
        </pc:spChg>
        <pc:spChg chg="add">
          <ac:chgData name="shruti suresh" userId="e6e0bf4c911fa585" providerId="LiveId" clId="{5AB040AC-35A5-4ABF-97C7-3B5E1CE8F945}" dt="2026-01-19T23:52:41.398" v="3099" actId="11529"/>
          <ac:spMkLst>
            <pc:docMk/>
            <pc:sldMk cId="430351846" sldId="267"/>
            <ac:spMk id="19" creationId="{4793E553-BCCF-2212-EE12-9ECAB8F73AD9}"/>
          </ac:spMkLst>
        </pc:spChg>
        <pc:spChg chg="add">
          <ac:chgData name="shruti suresh" userId="e6e0bf4c911fa585" providerId="LiveId" clId="{5AB040AC-35A5-4ABF-97C7-3B5E1CE8F945}" dt="2026-01-19T23:52:49.777" v="3100" actId="11529"/>
          <ac:spMkLst>
            <pc:docMk/>
            <pc:sldMk cId="430351846" sldId="267"/>
            <ac:spMk id="20" creationId="{06BAA5CC-CE73-8BD0-ABF3-19057D40FF08}"/>
          </ac:spMkLst>
        </pc:spChg>
        <pc:spChg chg="add">
          <ac:chgData name="shruti suresh" userId="e6e0bf4c911fa585" providerId="LiveId" clId="{5AB040AC-35A5-4ABF-97C7-3B5E1CE8F945}" dt="2026-01-19T23:52:59.768" v="3101" actId="11529"/>
          <ac:spMkLst>
            <pc:docMk/>
            <pc:sldMk cId="430351846" sldId="267"/>
            <ac:spMk id="21" creationId="{B6309EAF-67A9-1195-5D04-2AD96DD74A90}"/>
          </ac:spMkLst>
        </pc:spChg>
        <pc:spChg chg="add">
          <ac:chgData name="shruti suresh" userId="e6e0bf4c911fa585" providerId="LiveId" clId="{5AB040AC-35A5-4ABF-97C7-3B5E1CE8F945}" dt="2026-01-19T23:53:15.874" v="3102" actId="11529"/>
          <ac:spMkLst>
            <pc:docMk/>
            <pc:sldMk cId="430351846" sldId="267"/>
            <ac:spMk id="22" creationId="{9C360223-9F5B-5A25-FD75-CE068D5188FD}"/>
          </ac:spMkLst>
        </pc:spChg>
        <pc:spChg chg="add">
          <ac:chgData name="shruti suresh" userId="e6e0bf4c911fa585" providerId="LiveId" clId="{5AB040AC-35A5-4ABF-97C7-3B5E1CE8F945}" dt="2026-01-19T23:53:26.609" v="3104" actId="11529"/>
          <ac:spMkLst>
            <pc:docMk/>
            <pc:sldMk cId="430351846" sldId="267"/>
            <ac:spMk id="23" creationId="{E04D975F-D56C-576E-AB07-5482ADCABC2B}"/>
          </ac:spMkLst>
        </pc:spChg>
        <pc:spChg chg="add">
          <ac:chgData name="shruti suresh" userId="e6e0bf4c911fa585" providerId="LiveId" clId="{5AB040AC-35A5-4ABF-97C7-3B5E1CE8F945}" dt="2026-01-19T23:53:33.826" v="3105" actId="11529"/>
          <ac:spMkLst>
            <pc:docMk/>
            <pc:sldMk cId="430351846" sldId="267"/>
            <ac:spMk id="24" creationId="{A2E8BBD5-E200-C21B-CED7-9C818EA5CC07}"/>
          </ac:spMkLst>
        </pc:spChg>
        <pc:spChg chg="add">
          <ac:chgData name="shruti suresh" userId="e6e0bf4c911fa585" providerId="LiveId" clId="{5AB040AC-35A5-4ABF-97C7-3B5E1CE8F945}" dt="2026-01-19T23:53:41.409" v="3106" actId="11529"/>
          <ac:spMkLst>
            <pc:docMk/>
            <pc:sldMk cId="430351846" sldId="267"/>
            <ac:spMk id="25" creationId="{B1E8633D-71B4-83B8-2160-8F2718A6CC7A}"/>
          </ac:spMkLst>
        </pc:spChg>
        <pc:spChg chg="add">
          <ac:chgData name="shruti suresh" userId="e6e0bf4c911fa585" providerId="LiveId" clId="{5AB040AC-35A5-4ABF-97C7-3B5E1CE8F945}" dt="2026-01-19T23:53:47.447" v="3107" actId="11529"/>
          <ac:spMkLst>
            <pc:docMk/>
            <pc:sldMk cId="430351846" sldId="267"/>
            <ac:spMk id="26" creationId="{FAD23CD1-1A51-FF8B-5B48-E1F4C1079A5C}"/>
          </ac:spMkLst>
        </pc:spChg>
      </pc:sldChg>
      <pc:sldChg chg="addSp delSp modSp new mod">
        <pc:chgData name="shruti suresh" userId="e6e0bf4c911fa585" providerId="LiveId" clId="{5AB040AC-35A5-4ABF-97C7-3B5E1CE8F945}" dt="2026-01-20T02:29:59.725" v="3720"/>
        <pc:sldMkLst>
          <pc:docMk/>
          <pc:sldMk cId="3571107987" sldId="268"/>
        </pc:sldMkLst>
        <pc:spChg chg="mod">
          <ac:chgData name="shruti suresh" userId="e6e0bf4c911fa585" providerId="LiveId" clId="{5AB040AC-35A5-4ABF-97C7-3B5E1CE8F945}" dt="2026-01-20T02:29:59.725" v="3720"/>
          <ac:spMkLst>
            <pc:docMk/>
            <pc:sldMk cId="3571107987" sldId="268"/>
            <ac:spMk id="2" creationId="{2E8B0AEE-166E-3E03-50B1-14F4940B243D}"/>
          </ac:spMkLst>
        </pc:spChg>
        <pc:spChg chg="add mod">
          <ac:chgData name="shruti suresh" userId="e6e0bf4c911fa585" providerId="LiveId" clId="{5AB040AC-35A5-4ABF-97C7-3B5E1CE8F945}" dt="2026-01-20T00:00:16.904" v="3215" actId="20577"/>
          <ac:spMkLst>
            <pc:docMk/>
            <pc:sldMk cId="3571107987" sldId="268"/>
            <ac:spMk id="4" creationId="{33A0D76E-D188-9801-C860-CC2CC3EAE402}"/>
          </ac:spMkLst>
        </pc:spChg>
      </pc:sldChg>
      <pc:sldChg chg="modSp new mod">
        <pc:chgData name="shruti suresh" userId="e6e0bf4c911fa585" providerId="LiveId" clId="{5AB040AC-35A5-4ABF-97C7-3B5E1CE8F945}" dt="2026-01-20T15:04:53.417" v="3769" actId="1076"/>
        <pc:sldMkLst>
          <pc:docMk/>
          <pc:sldMk cId="3751484479" sldId="269"/>
        </pc:sldMkLst>
        <pc:spChg chg="mod">
          <ac:chgData name="shruti suresh" userId="e6e0bf4c911fa585" providerId="LiveId" clId="{5AB040AC-35A5-4ABF-97C7-3B5E1CE8F945}" dt="2026-01-20T15:04:47.944" v="3768" actId="14100"/>
          <ac:spMkLst>
            <pc:docMk/>
            <pc:sldMk cId="3751484479" sldId="269"/>
            <ac:spMk id="2" creationId="{27466317-2E85-CB47-F2CD-F90FAAB8FF05}"/>
          </ac:spMkLst>
        </pc:spChg>
        <pc:spChg chg="mod">
          <ac:chgData name="shruti suresh" userId="e6e0bf4c911fa585" providerId="LiveId" clId="{5AB040AC-35A5-4ABF-97C7-3B5E1CE8F945}" dt="2026-01-20T15:04:53.417" v="3769" actId="1076"/>
          <ac:spMkLst>
            <pc:docMk/>
            <pc:sldMk cId="3751484479" sldId="269"/>
            <ac:spMk id="3" creationId="{875A960A-0211-9943-7050-4E25A0E8D712}"/>
          </ac:spMkLst>
        </pc:spChg>
      </pc:sldChg>
      <pc:sldChg chg="modSp new mod">
        <pc:chgData name="shruti suresh" userId="e6e0bf4c911fa585" providerId="LiveId" clId="{5AB040AC-35A5-4ABF-97C7-3B5E1CE8F945}" dt="2026-02-10T15:19:04.929" v="4659" actId="20577"/>
        <pc:sldMkLst>
          <pc:docMk/>
          <pc:sldMk cId="3110220534" sldId="270"/>
        </pc:sldMkLst>
        <pc:spChg chg="mod">
          <ac:chgData name="shruti suresh" userId="e6e0bf4c911fa585" providerId="LiveId" clId="{5AB040AC-35A5-4ABF-97C7-3B5E1CE8F945}" dt="2026-01-20T02:29:59.725" v="3720"/>
          <ac:spMkLst>
            <pc:docMk/>
            <pc:sldMk cId="3110220534" sldId="270"/>
            <ac:spMk id="2" creationId="{D977974D-D329-AE3A-D2EB-74C9256F47FC}"/>
          </ac:spMkLst>
        </pc:spChg>
        <pc:spChg chg="mod">
          <ac:chgData name="shruti suresh" userId="e6e0bf4c911fa585" providerId="LiveId" clId="{5AB040AC-35A5-4ABF-97C7-3B5E1CE8F945}" dt="2026-02-10T15:19:04.929" v="4659" actId="20577"/>
          <ac:spMkLst>
            <pc:docMk/>
            <pc:sldMk cId="3110220534" sldId="270"/>
            <ac:spMk id="3" creationId="{2E956732-C2F3-BD5F-128C-609F7552D83D}"/>
          </ac:spMkLst>
        </pc:spChg>
      </pc:sldChg>
      <pc:sldChg chg="addSp delSp modSp new mod modAnim">
        <pc:chgData name="shruti suresh" userId="e6e0bf4c911fa585" providerId="LiveId" clId="{5AB040AC-35A5-4ABF-97C7-3B5E1CE8F945}" dt="2026-02-10T14:31:03.798" v="3879" actId="14100"/>
        <pc:sldMkLst>
          <pc:docMk/>
          <pc:sldMk cId="2015810301" sldId="271"/>
        </pc:sldMkLst>
        <pc:spChg chg="mod">
          <ac:chgData name="shruti suresh" userId="e6e0bf4c911fa585" providerId="LiveId" clId="{5AB040AC-35A5-4ABF-97C7-3B5E1CE8F945}" dt="2026-02-10T14:30:48.674" v="3876" actId="20577"/>
          <ac:spMkLst>
            <pc:docMk/>
            <pc:sldMk cId="2015810301" sldId="271"/>
            <ac:spMk id="2" creationId="{59C56480-096D-7BA6-4274-FBDBBD8A4271}"/>
          </ac:spMkLst>
        </pc:spChg>
        <pc:picChg chg="add mod modCrop">
          <ac:chgData name="shruti suresh" userId="e6e0bf4c911fa585" providerId="LiveId" clId="{5AB040AC-35A5-4ABF-97C7-3B5E1CE8F945}" dt="2026-02-10T14:31:03.798" v="3879" actId="14100"/>
          <ac:picMkLst>
            <pc:docMk/>
            <pc:sldMk cId="2015810301" sldId="271"/>
            <ac:picMk id="7" creationId="{67F4A5CE-7303-ACFD-CB09-5B075BAD588E}"/>
          </ac:picMkLst>
        </pc:picChg>
      </pc:sldChg>
      <pc:sldChg chg="addSp delSp modSp new mod modAnim">
        <pc:chgData name="shruti suresh" userId="e6e0bf4c911fa585" providerId="LiveId" clId="{5AB040AC-35A5-4ABF-97C7-3B5E1CE8F945}" dt="2026-01-20T02:34:24.772" v="3751" actId="14100"/>
        <pc:sldMkLst>
          <pc:docMk/>
          <pc:sldMk cId="1574130425" sldId="272"/>
        </pc:sldMkLst>
        <pc:picChg chg="add mod modCrop">
          <ac:chgData name="shruti suresh" userId="e6e0bf4c911fa585" providerId="LiveId" clId="{5AB040AC-35A5-4ABF-97C7-3B5E1CE8F945}" dt="2026-01-20T02:34:24.772" v="3751" actId="14100"/>
          <ac:picMkLst>
            <pc:docMk/>
            <pc:sldMk cId="1574130425" sldId="272"/>
            <ac:picMk id="5" creationId="{ABB8404A-E722-0FF4-93BB-F9B385BA7927}"/>
          </ac:picMkLst>
        </pc:picChg>
      </pc:sldChg>
      <pc:sldChg chg="delSp modSp new mod modTransition modAnim">
        <pc:chgData name="shruti suresh" userId="e6e0bf4c911fa585" providerId="LiveId" clId="{5AB040AC-35A5-4ABF-97C7-3B5E1CE8F945}" dt="2026-01-20T15:13:34.573" v="3845"/>
        <pc:sldMkLst>
          <pc:docMk/>
          <pc:sldMk cId="904998173" sldId="273"/>
        </pc:sldMkLst>
        <pc:spChg chg="mod">
          <ac:chgData name="shruti suresh" userId="e6e0bf4c911fa585" providerId="LiveId" clId="{5AB040AC-35A5-4ABF-97C7-3B5E1CE8F945}" dt="2026-01-20T15:08:37.972" v="3803" actId="20577"/>
          <ac:spMkLst>
            <pc:docMk/>
            <pc:sldMk cId="904998173" sldId="273"/>
            <ac:spMk id="3" creationId="{3F1FCC0D-3373-5880-3B8E-911C33DB0095}"/>
          </ac:spMkLst>
        </pc:spChg>
      </pc:sldChg>
      <pc:sldChg chg="delSp modSp new mod modAnim">
        <pc:chgData name="shruti suresh" userId="e6e0bf4c911fa585" providerId="LiveId" clId="{5AB040AC-35A5-4ABF-97C7-3B5E1CE8F945}" dt="2026-01-20T15:13:44.046" v="3846"/>
        <pc:sldMkLst>
          <pc:docMk/>
          <pc:sldMk cId="1278707815" sldId="274"/>
        </pc:sldMkLst>
        <pc:spChg chg="mod">
          <ac:chgData name="shruti suresh" userId="e6e0bf4c911fa585" providerId="LiveId" clId="{5AB040AC-35A5-4ABF-97C7-3B5E1CE8F945}" dt="2026-01-20T15:09:28.676" v="3821" actId="20577"/>
          <ac:spMkLst>
            <pc:docMk/>
            <pc:sldMk cId="1278707815" sldId="274"/>
            <ac:spMk id="3" creationId="{7A656F3B-1E2C-8B69-1612-0E69F71934EF}"/>
          </ac:spMkLst>
        </pc:spChg>
      </pc:sldChg>
      <pc:sldChg chg="delSp modSp new mod modAnim">
        <pc:chgData name="shruti suresh" userId="e6e0bf4c911fa585" providerId="LiveId" clId="{5AB040AC-35A5-4ABF-97C7-3B5E1CE8F945}" dt="2026-01-20T15:13:58.261" v="3848"/>
        <pc:sldMkLst>
          <pc:docMk/>
          <pc:sldMk cId="4083044094" sldId="275"/>
        </pc:sldMkLst>
        <pc:spChg chg="mod">
          <ac:chgData name="shruti suresh" userId="e6e0bf4c911fa585" providerId="LiveId" clId="{5AB040AC-35A5-4ABF-97C7-3B5E1CE8F945}" dt="2026-01-20T02:29:59.893" v="3728" actId="27636"/>
          <ac:spMkLst>
            <pc:docMk/>
            <pc:sldMk cId="4083044094" sldId="275"/>
            <ac:spMk id="3" creationId="{E6CD75B1-F632-4391-E8FE-3B97B4DF8847}"/>
          </ac:spMkLst>
        </pc:spChg>
      </pc:sldChg>
      <pc:sldChg chg="delSp modSp new mod modAnim">
        <pc:chgData name="shruti suresh" userId="e6e0bf4c911fa585" providerId="LiveId" clId="{5AB040AC-35A5-4ABF-97C7-3B5E1CE8F945}" dt="2026-01-20T15:14:29.332" v="3855"/>
        <pc:sldMkLst>
          <pc:docMk/>
          <pc:sldMk cId="1556476428" sldId="276"/>
        </pc:sldMkLst>
        <pc:spChg chg="mod">
          <ac:chgData name="shruti suresh" userId="e6e0bf4c911fa585" providerId="LiveId" clId="{5AB040AC-35A5-4ABF-97C7-3B5E1CE8F945}" dt="2026-01-20T02:29:59.900" v="3729" actId="27636"/>
          <ac:spMkLst>
            <pc:docMk/>
            <pc:sldMk cId="1556476428" sldId="276"/>
            <ac:spMk id="3" creationId="{C3CAC763-FBF3-0E04-508D-62B1C2F9EC0C}"/>
          </ac:spMkLst>
        </pc:spChg>
      </pc:sldChg>
      <pc:sldChg chg="addSp delSp modSp new mod">
        <pc:chgData name="shruti suresh" userId="e6e0bf4c911fa585" providerId="LiveId" clId="{5AB040AC-35A5-4ABF-97C7-3B5E1CE8F945}" dt="2026-01-20T15:12:00.863" v="3836" actId="255"/>
        <pc:sldMkLst>
          <pc:docMk/>
          <pc:sldMk cId="4279972119" sldId="277"/>
        </pc:sldMkLst>
        <pc:spChg chg="mod">
          <ac:chgData name="shruti suresh" userId="e6e0bf4c911fa585" providerId="LiveId" clId="{5AB040AC-35A5-4ABF-97C7-3B5E1CE8F945}" dt="2026-01-20T15:11:44.031" v="3835" actId="113"/>
          <ac:spMkLst>
            <pc:docMk/>
            <pc:sldMk cId="4279972119" sldId="277"/>
            <ac:spMk id="2" creationId="{59CBB23D-DE7C-AC09-7A3B-FBDA9AF5591A}"/>
          </ac:spMkLst>
        </pc:spChg>
        <pc:spChg chg="add del mod">
          <ac:chgData name="shruti suresh" userId="e6e0bf4c911fa585" providerId="LiveId" clId="{5AB040AC-35A5-4ABF-97C7-3B5E1CE8F945}" dt="2026-01-20T15:12:00.863" v="3836" actId="255"/>
          <ac:spMkLst>
            <pc:docMk/>
            <pc:sldMk cId="4279972119" sldId="277"/>
            <ac:spMk id="3" creationId="{FC187FA7-A32C-4C66-7AEF-E5F353AAED55}"/>
          </ac:spMkLst>
        </pc:spChg>
      </pc:sldChg>
      <pc:sldChg chg="addSp delSp modSp new mod">
        <pc:chgData name="shruti suresh" userId="e6e0bf4c911fa585" providerId="LiveId" clId="{5AB040AC-35A5-4ABF-97C7-3B5E1CE8F945}" dt="2026-01-20T15:12:16.492" v="3837" actId="113"/>
        <pc:sldMkLst>
          <pc:docMk/>
          <pc:sldMk cId="2036884396" sldId="278"/>
        </pc:sldMkLst>
        <pc:spChg chg="mod">
          <ac:chgData name="shruti suresh" userId="e6e0bf4c911fa585" providerId="LiveId" clId="{5AB040AC-35A5-4ABF-97C7-3B5E1CE8F945}" dt="2026-01-20T15:12:16.492" v="3837" actId="113"/>
          <ac:spMkLst>
            <pc:docMk/>
            <pc:sldMk cId="2036884396" sldId="278"/>
            <ac:spMk id="2" creationId="{0C53C622-6262-F13E-5185-64F08AB27656}"/>
          </ac:spMkLst>
        </pc:spChg>
        <pc:spChg chg="add del mod">
          <ac:chgData name="shruti suresh" userId="e6e0bf4c911fa585" providerId="LiveId" clId="{5AB040AC-35A5-4ABF-97C7-3B5E1CE8F945}" dt="2026-01-20T02:29:59.725" v="3720"/>
          <ac:spMkLst>
            <pc:docMk/>
            <pc:sldMk cId="2036884396" sldId="278"/>
            <ac:spMk id="3" creationId="{BEA6D04A-F459-BB52-DEE3-185670F7999B}"/>
          </ac:spMkLst>
        </pc:spChg>
      </pc:sldChg>
      <pc:sldChg chg="addSp delSp modSp new mod">
        <pc:chgData name="shruti suresh" userId="e6e0bf4c911fa585" providerId="LiveId" clId="{5AB040AC-35A5-4ABF-97C7-3B5E1CE8F945}" dt="2026-01-20T15:15:39.718" v="3858" actId="20577"/>
        <pc:sldMkLst>
          <pc:docMk/>
          <pc:sldMk cId="823936076" sldId="279"/>
        </pc:sldMkLst>
        <pc:spChg chg="mod">
          <ac:chgData name="shruti suresh" userId="e6e0bf4c911fa585" providerId="LiveId" clId="{5AB040AC-35A5-4ABF-97C7-3B5E1CE8F945}" dt="2026-01-20T15:12:25.821" v="3838" actId="113"/>
          <ac:spMkLst>
            <pc:docMk/>
            <pc:sldMk cId="823936076" sldId="279"/>
            <ac:spMk id="2" creationId="{BA0FF582-DB6D-FEEB-5486-D2A6199DE342}"/>
          </ac:spMkLst>
        </pc:spChg>
        <pc:spChg chg="add mod">
          <ac:chgData name="shruti suresh" userId="e6e0bf4c911fa585" providerId="LiveId" clId="{5AB040AC-35A5-4ABF-97C7-3B5E1CE8F945}" dt="2026-01-20T15:15:39.718" v="3858" actId="20577"/>
          <ac:spMkLst>
            <pc:docMk/>
            <pc:sldMk cId="823936076" sldId="279"/>
            <ac:spMk id="4" creationId="{A7CBAB7C-8545-030A-82B7-97F05C6E18F9}"/>
          </ac:spMkLst>
        </pc:spChg>
      </pc:sldChg>
      <pc:sldChg chg="addSp delSp modSp new mod">
        <pc:chgData name="shruti suresh" userId="e6e0bf4c911fa585" providerId="LiveId" clId="{5AB040AC-35A5-4ABF-97C7-3B5E1CE8F945}" dt="2026-01-20T15:12:34.149" v="3839" actId="113"/>
        <pc:sldMkLst>
          <pc:docMk/>
          <pc:sldMk cId="258716620" sldId="280"/>
        </pc:sldMkLst>
        <pc:spChg chg="mod">
          <ac:chgData name="shruti suresh" userId="e6e0bf4c911fa585" providerId="LiveId" clId="{5AB040AC-35A5-4ABF-97C7-3B5E1CE8F945}" dt="2026-01-20T15:12:34.149" v="3839" actId="113"/>
          <ac:spMkLst>
            <pc:docMk/>
            <pc:sldMk cId="258716620" sldId="280"/>
            <ac:spMk id="2" creationId="{77229937-F136-07F2-8F3D-546C6B141B09}"/>
          </ac:spMkLst>
        </pc:spChg>
        <pc:spChg chg="add mod">
          <ac:chgData name="shruti suresh" userId="e6e0bf4c911fa585" providerId="LiveId" clId="{5AB040AC-35A5-4ABF-97C7-3B5E1CE8F945}" dt="2026-01-20T00:45:48.233" v="3584" actId="14100"/>
          <ac:spMkLst>
            <pc:docMk/>
            <pc:sldMk cId="258716620" sldId="280"/>
            <ac:spMk id="4" creationId="{957F7443-8538-AB19-A58F-36F5D17ED0D6}"/>
          </ac:spMkLst>
        </pc:spChg>
      </pc:sldChg>
      <pc:sldChg chg="addSp delSp modSp new mod modAnim">
        <pc:chgData name="shruti suresh" userId="e6e0bf4c911fa585" providerId="LiveId" clId="{5AB040AC-35A5-4ABF-97C7-3B5E1CE8F945}" dt="2026-01-20T02:34:56.760" v="3758"/>
        <pc:sldMkLst>
          <pc:docMk/>
          <pc:sldMk cId="1705808211" sldId="281"/>
        </pc:sldMkLst>
        <pc:picChg chg="add mod">
          <ac:chgData name="shruti suresh" userId="e6e0bf4c911fa585" providerId="LiveId" clId="{5AB040AC-35A5-4ABF-97C7-3B5E1CE8F945}" dt="2026-01-20T02:22:16.551" v="3661" actId="14100"/>
          <ac:picMkLst>
            <pc:docMk/>
            <pc:sldMk cId="1705808211" sldId="281"/>
            <ac:picMk id="4" creationId="{37EF7144-619F-59B3-D0F3-A251A6942FEE}"/>
          </ac:picMkLst>
        </pc:picChg>
      </pc:sldChg>
      <pc:sldChg chg="addSp delSp modSp new mod">
        <pc:chgData name="shruti suresh" userId="e6e0bf4c911fa585" providerId="LiveId" clId="{5AB040AC-35A5-4ABF-97C7-3B5E1CE8F945}" dt="2026-01-20T02:29:06.850" v="3719" actId="14100"/>
        <pc:sldMkLst>
          <pc:docMk/>
          <pc:sldMk cId="689140828" sldId="282"/>
        </pc:sldMkLst>
        <pc:picChg chg="add mod">
          <ac:chgData name="shruti suresh" userId="e6e0bf4c911fa585" providerId="LiveId" clId="{5AB040AC-35A5-4ABF-97C7-3B5E1CE8F945}" dt="2026-01-20T02:29:06.850" v="3719" actId="14100"/>
          <ac:picMkLst>
            <pc:docMk/>
            <pc:sldMk cId="689140828" sldId="282"/>
            <ac:picMk id="5" creationId="{4C74C1AE-A981-FD02-DD59-1B40CD7032DE}"/>
          </ac:picMkLst>
        </pc:picChg>
      </pc:sldChg>
      <pc:sldChg chg="addSp delSp modSp new mod">
        <pc:chgData name="shruti suresh" userId="e6e0bf4c911fa585" providerId="LiveId" clId="{5AB040AC-35A5-4ABF-97C7-3B5E1CE8F945}" dt="2026-02-10T14:54:53.849" v="4052" actId="1440"/>
        <pc:sldMkLst>
          <pc:docMk/>
          <pc:sldMk cId="1914549609" sldId="283"/>
        </pc:sldMkLst>
        <pc:spChg chg="mod">
          <ac:chgData name="shruti suresh" userId="e6e0bf4c911fa585" providerId="LiveId" clId="{5AB040AC-35A5-4ABF-97C7-3B5E1CE8F945}" dt="2026-02-10T14:32:12.821" v="3896" actId="20577"/>
          <ac:spMkLst>
            <pc:docMk/>
            <pc:sldMk cId="1914549609" sldId="283"/>
            <ac:spMk id="2" creationId="{8604B983-CA6A-E821-8A8F-8FEF12344235}"/>
          </ac:spMkLst>
        </pc:spChg>
        <pc:spChg chg="del mod">
          <ac:chgData name="shruti suresh" userId="e6e0bf4c911fa585" providerId="LiveId" clId="{5AB040AC-35A5-4ABF-97C7-3B5E1CE8F945}" dt="2026-02-10T14:33:41.071" v="3898" actId="931"/>
          <ac:spMkLst>
            <pc:docMk/>
            <pc:sldMk cId="1914549609" sldId="283"/>
            <ac:spMk id="3" creationId="{A5BADCBD-0D61-3179-1EE9-4779BAEA2FF3}"/>
          </ac:spMkLst>
        </pc:spChg>
        <pc:picChg chg="add mod modCrop">
          <ac:chgData name="shruti suresh" userId="e6e0bf4c911fa585" providerId="LiveId" clId="{5AB040AC-35A5-4ABF-97C7-3B5E1CE8F945}" dt="2026-02-10T14:54:19.232" v="4050" actId="1440"/>
          <ac:picMkLst>
            <pc:docMk/>
            <pc:sldMk cId="1914549609" sldId="283"/>
            <ac:picMk id="5" creationId="{296BFC21-15F5-3D4A-2FE9-3BD8C45049A6}"/>
          </ac:picMkLst>
        </pc:picChg>
        <pc:picChg chg="add mod modCrop">
          <ac:chgData name="shruti suresh" userId="e6e0bf4c911fa585" providerId="LiveId" clId="{5AB040AC-35A5-4ABF-97C7-3B5E1CE8F945}" dt="2026-02-10T14:54:53.849" v="4052" actId="1440"/>
          <ac:picMkLst>
            <pc:docMk/>
            <pc:sldMk cId="1914549609" sldId="283"/>
            <ac:picMk id="7" creationId="{1CF363C6-FEB0-6EF3-1492-40D127609FE6}"/>
          </ac:picMkLst>
        </pc:picChg>
      </pc:sldChg>
      <pc:sldChg chg="addSp delSp modSp new mod">
        <pc:chgData name="shruti suresh" userId="e6e0bf4c911fa585" providerId="LiveId" clId="{5AB040AC-35A5-4ABF-97C7-3B5E1CE8F945}" dt="2026-02-10T14:55:18.251" v="4056" actId="1076"/>
        <pc:sldMkLst>
          <pc:docMk/>
          <pc:sldMk cId="6184447" sldId="284"/>
        </pc:sldMkLst>
        <pc:spChg chg="del mod">
          <ac:chgData name="shruti suresh" userId="e6e0bf4c911fa585" providerId="LiveId" clId="{5AB040AC-35A5-4ABF-97C7-3B5E1CE8F945}" dt="2026-02-10T14:43:44.735" v="3947" actId="478"/>
          <ac:spMkLst>
            <pc:docMk/>
            <pc:sldMk cId="6184447" sldId="284"/>
            <ac:spMk id="2" creationId="{89619690-6640-F51C-DD8F-0BA070F6D169}"/>
          </ac:spMkLst>
        </pc:spChg>
        <pc:spChg chg="del mod">
          <ac:chgData name="shruti suresh" userId="e6e0bf4c911fa585" providerId="LiveId" clId="{5AB040AC-35A5-4ABF-97C7-3B5E1CE8F945}" dt="2026-02-10T14:43:59.561" v="3950" actId="931"/>
          <ac:spMkLst>
            <pc:docMk/>
            <pc:sldMk cId="6184447" sldId="284"/>
            <ac:spMk id="3" creationId="{C72A268A-2AA6-92A8-0B49-66D00807428E}"/>
          </ac:spMkLst>
        </pc:spChg>
        <pc:picChg chg="add mod modCrop">
          <ac:chgData name="shruti suresh" userId="e6e0bf4c911fa585" providerId="LiveId" clId="{5AB040AC-35A5-4ABF-97C7-3B5E1CE8F945}" dt="2026-02-10T14:55:14.705" v="4055" actId="1076"/>
          <ac:picMkLst>
            <pc:docMk/>
            <pc:sldMk cId="6184447" sldId="284"/>
            <ac:picMk id="5" creationId="{DC3E816B-8BD7-71A2-7E0E-2DCAFEFBA43F}"/>
          </ac:picMkLst>
        </pc:picChg>
        <pc:picChg chg="add mod modCrop">
          <ac:chgData name="shruti suresh" userId="e6e0bf4c911fa585" providerId="LiveId" clId="{5AB040AC-35A5-4ABF-97C7-3B5E1CE8F945}" dt="2026-02-10T14:55:18.251" v="4056" actId="1076"/>
          <ac:picMkLst>
            <pc:docMk/>
            <pc:sldMk cId="6184447" sldId="284"/>
            <ac:picMk id="7" creationId="{D961E750-11CB-81C8-E093-6AC7BFC81369}"/>
          </ac:picMkLst>
        </pc:picChg>
      </pc:sldChg>
      <pc:sldChg chg="addSp delSp modSp new mod">
        <pc:chgData name="shruti suresh" userId="e6e0bf4c911fa585" providerId="LiveId" clId="{5AB040AC-35A5-4ABF-97C7-3B5E1CE8F945}" dt="2026-02-10T14:49:35.633" v="4010" actId="1076"/>
        <pc:sldMkLst>
          <pc:docMk/>
          <pc:sldMk cId="2414909238" sldId="285"/>
        </pc:sldMkLst>
        <pc:spChg chg="del mod">
          <ac:chgData name="shruti suresh" userId="e6e0bf4c911fa585" providerId="LiveId" clId="{5AB040AC-35A5-4ABF-97C7-3B5E1CE8F945}" dt="2026-02-10T14:47:08.276" v="3983" actId="478"/>
          <ac:spMkLst>
            <pc:docMk/>
            <pc:sldMk cId="2414909238" sldId="285"/>
            <ac:spMk id="2" creationId="{EBCE1133-63C5-5474-13A7-0401F5284673}"/>
          </ac:spMkLst>
        </pc:spChg>
        <pc:spChg chg="del mod">
          <ac:chgData name="shruti suresh" userId="e6e0bf4c911fa585" providerId="LiveId" clId="{5AB040AC-35A5-4ABF-97C7-3B5E1CE8F945}" dt="2026-02-10T14:47:45.641" v="3987" actId="931"/>
          <ac:spMkLst>
            <pc:docMk/>
            <pc:sldMk cId="2414909238" sldId="285"/>
            <ac:spMk id="3" creationId="{DABD44D4-DDE6-7A87-F7EC-BBE4B188DA47}"/>
          </ac:spMkLst>
        </pc:spChg>
        <pc:picChg chg="add mod modCrop">
          <ac:chgData name="shruti suresh" userId="e6e0bf4c911fa585" providerId="LiveId" clId="{5AB040AC-35A5-4ABF-97C7-3B5E1CE8F945}" dt="2026-02-10T14:49:33.840" v="4009" actId="1076"/>
          <ac:picMkLst>
            <pc:docMk/>
            <pc:sldMk cId="2414909238" sldId="285"/>
            <ac:picMk id="5" creationId="{33F5B860-DF7A-55A8-D720-FF03AC53F88C}"/>
          </ac:picMkLst>
        </pc:picChg>
        <pc:picChg chg="add mod modCrop">
          <ac:chgData name="shruti suresh" userId="e6e0bf4c911fa585" providerId="LiveId" clId="{5AB040AC-35A5-4ABF-97C7-3B5E1CE8F945}" dt="2026-02-10T14:49:35.633" v="4010" actId="1076"/>
          <ac:picMkLst>
            <pc:docMk/>
            <pc:sldMk cId="2414909238" sldId="285"/>
            <ac:picMk id="7" creationId="{9ED5C105-65A7-4730-7C98-923373246F54}"/>
          </ac:picMkLst>
        </pc:picChg>
      </pc:sldChg>
      <pc:sldChg chg="addSp delSp modSp new mod">
        <pc:chgData name="shruti suresh" userId="e6e0bf4c911fa585" providerId="LiveId" clId="{5AB040AC-35A5-4ABF-97C7-3B5E1CE8F945}" dt="2026-02-10T14:52:50.686" v="4044" actId="1440"/>
        <pc:sldMkLst>
          <pc:docMk/>
          <pc:sldMk cId="2280605538" sldId="286"/>
        </pc:sldMkLst>
        <pc:spChg chg="del mod">
          <ac:chgData name="shruti suresh" userId="e6e0bf4c911fa585" providerId="LiveId" clId="{5AB040AC-35A5-4ABF-97C7-3B5E1CE8F945}" dt="2026-02-10T14:50:15.792" v="4014" actId="478"/>
          <ac:spMkLst>
            <pc:docMk/>
            <pc:sldMk cId="2280605538" sldId="286"/>
            <ac:spMk id="2" creationId="{FA8D9F06-E4EA-343A-A530-CE7A0A343556}"/>
          </ac:spMkLst>
        </pc:spChg>
        <pc:spChg chg="del mod">
          <ac:chgData name="shruti suresh" userId="e6e0bf4c911fa585" providerId="LiveId" clId="{5AB040AC-35A5-4ABF-97C7-3B5E1CE8F945}" dt="2026-02-10T14:50:43.510" v="4019" actId="931"/>
          <ac:spMkLst>
            <pc:docMk/>
            <pc:sldMk cId="2280605538" sldId="286"/>
            <ac:spMk id="3" creationId="{6959AB85-4656-5F9F-A6DF-886DF30F2269}"/>
          </ac:spMkLst>
        </pc:spChg>
        <pc:picChg chg="add mod modCrop">
          <ac:chgData name="shruti suresh" userId="e6e0bf4c911fa585" providerId="LiveId" clId="{5AB040AC-35A5-4ABF-97C7-3B5E1CE8F945}" dt="2026-02-10T14:52:50.686" v="4044" actId="1440"/>
          <ac:picMkLst>
            <pc:docMk/>
            <pc:sldMk cId="2280605538" sldId="286"/>
            <ac:picMk id="5" creationId="{3B7BEB23-BE91-24B8-45A9-A4D924851B05}"/>
          </ac:picMkLst>
        </pc:picChg>
        <pc:picChg chg="add mod modCrop">
          <ac:chgData name="shruti suresh" userId="e6e0bf4c911fa585" providerId="LiveId" clId="{5AB040AC-35A5-4ABF-97C7-3B5E1CE8F945}" dt="2026-02-10T14:52:45.879" v="4043" actId="1440"/>
          <ac:picMkLst>
            <pc:docMk/>
            <pc:sldMk cId="2280605538" sldId="286"/>
            <ac:picMk id="7" creationId="{975FD266-F79F-7D4C-5D76-870D19C2F424}"/>
          </ac:picMkLst>
        </pc:picChg>
      </pc:sldChg>
      <pc:sldChg chg="delSp modSp new mod">
        <pc:chgData name="shruti suresh" userId="e6e0bf4c911fa585" providerId="LiveId" clId="{5AB040AC-35A5-4ABF-97C7-3B5E1CE8F945}" dt="2026-02-10T15:16:10.779" v="4550" actId="1076"/>
        <pc:sldMkLst>
          <pc:docMk/>
          <pc:sldMk cId="4241288365" sldId="287"/>
        </pc:sldMkLst>
        <pc:spChg chg="del mod">
          <ac:chgData name="shruti suresh" userId="e6e0bf4c911fa585" providerId="LiveId" clId="{5AB040AC-35A5-4ABF-97C7-3B5E1CE8F945}" dt="2026-02-10T14:57:55.784" v="4060" actId="478"/>
          <ac:spMkLst>
            <pc:docMk/>
            <pc:sldMk cId="4241288365" sldId="287"/>
            <ac:spMk id="2" creationId="{1AE2BD39-A98B-D098-B653-5E4AF7C8CBDC}"/>
          </ac:spMkLst>
        </pc:spChg>
        <pc:spChg chg="mod">
          <ac:chgData name="shruti suresh" userId="e6e0bf4c911fa585" providerId="LiveId" clId="{5AB040AC-35A5-4ABF-97C7-3B5E1CE8F945}" dt="2026-02-10T15:16:10.779" v="4550" actId="1076"/>
          <ac:spMkLst>
            <pc:docMk/>
            <pc:sldMk cId="4241288365" sldId="287"/>
            <ac:spMk id="3" creationId="{EA5B7833-309B-9B71-5C6E-6C115DAFDEC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417EC2-04F1-4094-A131-51BCB013CA6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0B07B-7B24-4668-ACE4-90948D52E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947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C0B07B-7B24-4668-ACE4-90948D52E09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642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C0B07B-7B24-4668-ACE4-90948D52E092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901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B6B8-6384-42E3-8C9A-9278E8F42769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0CF0521-6142-4F72-9A05-9E980B44D04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55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B6B8-6384-42E3-8C9A-9278E8F42769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F0521-6142-4F72-9A05-9E980B44D049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761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B6B8-6384-42E3-8C9A-9278E8F42769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F0521-6142-4F72-9A05-9E980B44D04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6246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B6B8-6384-42E3-8C9A-9278E8F42769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F0521-6142-4F72-9A05-9E980B44D049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999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B6B8-6384-42E3-8C9A-9278E8F42769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F0521-6142-4F72-9A05-9E980B44D049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795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B6B8-6384-42E3-8C9A-9278E8F42769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F0521-6142-4F72-9A05-9E980B44D049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417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B6B8-6384-42E3-8C9A-9278E8F42769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F0521-6142-4F72-9A05-9E980B44D0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019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B6B8-6384-42E3-8C9A-9278E8F42769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F0521-6142-4F72-9A05-9E980B44D049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418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DA6B6B8-6384-42E3-8C9A-9278E8F42769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F0521-6142-4F72-9A05-9E980B44D049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831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B6B8-6384-42E3-8C9A-9278E8F42769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F0521-6142-4F72-9A05-9E980B44D049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351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B6B8-6384-42E3-8C9A-9278E8F42769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F0521-6142-4F72-9A05-9E980B44D04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718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6B6B8-6384-42E3-8C9A-9278E8F42769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0CF0521-6142-4F72-9A05-9E980B44D049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859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7408A-278C-BEA8-356D-51B0858B51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Bahnschrift SemiBold SemiConden" panose="020B0502040204020203" pitchFamily="34" charset="0"/>
              </a:rPr>
              <a:t>Exploratory Data Analysis of IT Company Layoffs (2022–2023)</a:t>
            </a:r>
            <a:endParaRPr lang="en-IN" dirty="0">
              <a:latin typeface="Bahnschrift SemiBold SemiConden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BB09B6-AD43-3B7E-6267-E3A08B4ABA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61005" y="4444179"/>
            <a:ext cx="3244645" cy="1088923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en-IN" b="1" dirty="0">
                <a:solidFill>
                  <a:srgbClr val="FF0000"/>
                </a:solidFill>
              </a:rPr>
              <a:t>-  K SHRUTI SURESH BABU</a:t>
            </a:r>
          </a:p>
          <a:p>
            <a:pPr algn="r"/>
            <a:r>
              <a:rPr lang="en-IN" b="1" dirty="0">
                <a:solidFill>
                  <a:srgbClr val="FF0000"/>
                </a:solidFill>
              </a:rPr>
              <a:t>           Data Science Intern</a:t>
            </a:r>
          </a:p>
        </p:txBody>
      </p:sp>
    </p:spTree>
    <p:extLst>
      <p:ext uri="{BB962C8B-B14F-4D97-AF65-F5344CB8AC3E}">
        <p14:creationId xmlns:p14="http://schemas.microsoft.com/office/powerpoint/2010/main" val="2569777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74C1AE-A981-FD02-DD59-1B40CD7032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329" y="550606"/>
            <a:ext cx="8976851" cy="5840362"/>
          </a:xfrm>
        </p:spPr>
      </p:pic>
    </p:spTree>
    <p:extLst>
      <p:ext uri="{BB962C8B-B14F-4D97-AF65-F5344CB8AC3E}">
        <p14:creationId xmlns:p14="http://schemas.microsoft.com/office/powerpoint/2010/main" val="689140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89BE8-E21F-A135-A3B6-4A2BC12F6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40DCB-EA0D-D9D3-D976-56658A16F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038" y="2104103"/>
            <a:ext cx="10183761" cy="29890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project uses Exploratory Data Analysis (EDA) to study technology company layoffs during 2022–2023. After data cleaning, industry-wise and time-based analyses were performed to identify the most affected sectors and layoff trends in relation to global economic changes. The study provides a data-driven view of the “Efficiency Year” in the tech industry.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4266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07644-46B4-1AB2-BE0A-A9FAFA047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66683"/>
          </a:xfrm>
        </p:spPr>
        <p:txBody>
          <a:bodyPr/>
          <a:lstStyle/>
          <a:p>
            <a:pPr algn="ctr"/>
            <a:r>
              <a:rPr lang="en-IN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29FE4-DF2E-E4D0-F854-6200AE74F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81" y="658761"/>
            <a:ext cx="10872019" cy="5801033"/>
          </a:xfrm>
        </p:spPr>
        <p:txBody>
          <a:bodyPr>
            <a:noAutofit/>
          </a:bodyPr>
          <a:lstStyle/>
          <a:p>
            <a:r>
              <a:rPr lang="en-US" dirty="0"/>
              <a:t>In the wake of the COVID-19 pandemic, the technology sector experienced unprecedented growth, leading to aggressive "over-hiring" as companies prepared for a permanently digital world.</a:t>
            </a:r>
          </a:p>
          <a:p>
            <a:r>
              <a:rPr lang="en-US" dirty="0"/>
              <a:t> However, by late 2022, shifting economic conditions including rising inflation and interest rates forced a massive market correction. </a:t>
            </a:r>
          </a:p>
          <a:p>
            <a:r>
              <a:rPr lang="en-US" dirty="0"/>
              <a:t>This period saw the largest workforce reductions in the history of modern tech, affecting giants like Google, Amazon, and Meta, as well as thousands of startups.</a:t>
            </a:r>
          </a:p>
          <a:p>
            <a:r>
              <a:rPr lang="en-US" dirty="0"/>
              <a:t>The data used for this project was sourced from </a:t>
            </a:r>
            <a:r>
              <a:rPr lang="en-US" b="1" dirty="0"/>
              <a:t>Kaggle</a:t>
            </a:r>
            <a:r>
              <a:rPr lang="en-US" dirty="0"/>
              <a:t>, the premier platform for data science research. </a:t>
            </a:r>
          </a:p>
          <a:p>
            <a:r>
              <a:rPr lang="en-US" dirty="0"/>
              <a:t>The original records were aggregated by </a:t>
            </a:r>
            <a:r>
              <a:rPr lang="en-US" b="1" dirty="0" err="1"/>
              <a:t>Layoffs.fyi</a:t>
            </a:r>
            <a:r>
              <a:rPr lang="en-US" dirty="0"/>
              <a:t>, a world renowned real time tracker founded by entrepreneur </a:t>
            </a:r>
            <a:r>
              <a:rPr lang="en-US" b="1" dirty="0"/>
              <a:t>Roger Lee</a:t>
            </a:r>
          </a:p>
          <a:p>
            <a:r>
              <a:rPr lang="en-US" dirty="0"/>
              <a:t>The dataset captures factual, real-world events from 2022 to 2023, including company names, the number of layoffs, and the percentage of the workforce impacted, providing a high-fidelity record for Exploratory Data Analysis (EDA).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7980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AB2E1-E19D-9964-ACAF-48D87930A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   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783E6-102B-9773-99FB-3189D0189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During the COVID-19 pandemic (2020-2021), tech companies saw a massive boom in demand as the world moved online.</a:t>
            </a:r>
          </a:p>
          <a:p>
            <a:r>
              <a:rPr lang="en-US" dirty="0"/>
              <a:t> Believing this growth would last forever, they </a:t>
            </a:r>
            <a:r>
              <a:rPr lang="en-US" b="1" dirty="0"/>
              <a:t>over-hired</a:t>
            </a:r>
            <a:r>
              <a:rPr lang="en-US" dirty="0"/>
              <a:t> aggressively. However, in 2022 and 2023, the economic climate shifted due to rising inflation and higher interest rates. </a:t>
            </a:r>
          </a:p>
          <a:p>
            <a:r>
              <a:rPr lang="en-US" dirty="0"/>
              <a:t>This forced companies to shift their focus from 'growth at all costs' to 'efficiency,' leading to a massive market correction and the widespread layoffs captured in this dataset.“</a:t>
            </a:r>
          </a:p>
          <a:p>
            <a:r>
              <a:rPr lang="en-US" dirty="0"/>
              <a:t>The problem is to understand </a:t>
            </a:r>
            <a:r>
              <a:rPr lang="en-US" b="1" dirty="0"/>
              <a:t>which companies, industries, and locations were most affected</a:t>
            </a:r>
            <a:r>
              <a:rPr lang="en-US" dirty="0"/>
              <a:t>, and to analyze </a:t>
            </a:r>
            <a:r>
              <a:rPr lang="en-US" b="1" dirty="0"/>
              <a:t>layoff trends</a:t>
            </a:r>
            <a:r>
              <a:rPr lang="en-US" dirty="0"/>
              <a:t> across 2022 and 2023.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3561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E07B2-3EC1-4C9E-C847-A604895E4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1056"/>
          </a:xfrm>
        </p:spPr>
        <p:txBody>
          <a:bodyPr/>
          <a:lstStyle/>
          <a:p>
            <a:pPr algn="ctr"/>
            <a:r>
              <a:rPr lang="en-IN" b="1" dirty="0"/>
              <a:t>PROPOSED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246B1-2FCF-AB88-73E0-006FF7686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2826"/>
            <a:ext cx="10515600" cy="458413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u="sng" dirty="0">
                <a:latin typeface="Bahnschrift Light" panose="020B0502040204020203" pitchFamily="34" charset="0"/>
              </a:rPr>
              <a:t>Stage 1: Data Engineering (Python)</a:t>
            </a:r>
          </a:p>
          <a:p>
            <a:endParaRPr lang="en-US" b="1" dirty="0"/>
          </a:p>
          <a:p>
            <a:r>
              <a:rPr lang="en-US" b="1" dirty="0"/>
              <a:t>Data Preservation:</a:t>
            </a:r>
            <a:r>
              <a:rPr lang="en-US" dirty="0"/>
              <a:t> Created a </a:t>
            </a:r>
            <a:r>
              <a:rPr lang="en-US" b="1" dirty="0" err="1"/>
              <a:t>raw_df</a:t>
            </a:r>
            <a:r>
              <a:rPr lang="en-US" b="1" dirty="0"/>
              <a:t> </a:t>
            </a:r>
            <a:r>
              <a:rPr lang="en-US" dirty="0"/>
              <a:t>copy to maintain data integrity throughout the process.</a:t>
            </a:r>
          </a:p>
          <a:p>
            <a:r>
              <a:rPr lang="en-US" b="1" dirty="0"/>
              <a:t>Noise Reduction:</a:t>
            </a:r>
            <a:r>
              <a:rPr lang="en-US" dirty="0"/>
              <a:t> Dropped non-analytical columns like </a:t>
            </a:r>
            <a:r>
              <a:rPr lang="en-US" b="1" dirty="0"/>
              <a:t>sources and </a:t>
            </a:r>
            <a:r>
              <a:rPr lang="en-US" b="1" dirty="0" err="1"/>
              <a:t>additional_notes</a:t>
            </a:r>
            <a:r>
              <a:rPr lang="en-US" b="1" dirty="0"/>
              <a:t> </a:t>
            </a:r>
            <a:r>
              <a:rPr lang="en-US" dirty="0"/>
              <a:t>to improve processing speed and focus.</a:t>
            </a:r>
          </a:p>
          <a:p>
            <a:endParaRPr lang="en-US" b="1" dirty="0"/>
          </a:p>
          <a:p>
            <a:r>
              <a:rPr lang="en-US" b="1" dirty="0"/>
              <a:t>Type Conversion:</a:t>
            </a:r>
            <a:r>
              <a:rPr lang="en-US" dirty="0"/>
              <a:t> Used </a:t>
            </a:r>
            <a:r>
              <a:rPr lang="en-US" b="1" dirty="0" err="1"/>
              <a:t>pd.to_datetime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 err="1"/>
              <a:t>pd.to_numeric</a:t>
            </a:r>
            <a:r>
              <a:rPr lang="en-US" b="1" dirty="0"/>
              <a:t> </a:t>
            </a:r>
            <a:r>
              <a:rPr lang="en-US" dirty="0"/>
              <a:t>with </a:t>
            </a:r>
            <a:r>
              <a:rPr lang="en-US" b="1" dirty="0"/>
              <a:t>errors='coerce</a:t>
            </a:r>
            <a:r>
              <a:rPr lang="en-US" dirty="0"/>
              <a:t>’. </a:t>
            </a:r>
          </a:p>
          <a:p>
            <a:pPr marL="0" indent="0">
              <a:buNone/>
            </a:pPr>
            <a:r>
              <a:rPr lang="en-US" dirty="0"/>
              <a:t>This is a critical step to handle the "dirty data" (text mixed with numbers) often found in real-world Kaggle datasets.</a:t>
            </a:r>
          </a:p>
          <a:p>
            <a:endParaRPr lang="en-US" b="1" dirty="0"/>
          </a:p>
          <a:p>
            <a:r>
              <a:rPr lang="en-US" b="1" dirty="0"/>
              <a:t>Feature Engineering:</a:t>
            </a:r>
            <a:r>
              <a:rPr lang="en-US" dirty="0"/>
              <a:t> Deconstructed the </a:t>
            </a:r>
            <a:r>
              <a:rPr lang="en-US" b="1" dirty="0" err="1"/>
              <a:t>reported_date</a:t>
            </a:r>
            <a:r>
              <a:rPr lang="en-US" b="1" dirty="0"/>
              <a:t>  column</a:t>
            </a:r>
            <a:r>
              <a:rPr lang="en-US" dirty="0"/>
              <a:t> into Year, Month, and Day to allow for time-series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070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8D9FE-16CC-304C-81B8-299CD4801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5303"/>
            <a:ext cx="10515600" cy="5901660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>
                <a:latin typeface="Bahnschrift Light" panose="020B0502040204020203" pitchFamily="34" charset="0"/>
              </a:rPr>
              <a:t>Stage 2: Statistical Aggregation &amp; Analysis</a:t>
            </a:r>
            <a:endParaRPr lang="en-US" u="sng" dirty="0">
              <a:latin typeface="Bahnschrift Light" panose="020B0502040204020203" pitchFamily="34" charset="0"/>
            </a:endParaRPr>
          </a:p>
          <a:p>
            <a:endParaRPr lang="en-US" b="1" dirty="0"/>
          </a:p>
          <a:p>
            <a:r>
              <a:rPr lang="en-US" b="1" dirty="0"/>
              <a:t>Grouped Analysis:</a:t>
            </a:r>
            <a:r>
              <a:rPr lang="en-US" dirty="0"/>
              <a:t> </a:t>
            </a:r>
            <a:r>
              <a:rPr lang="en-US" b="1" dirty="0"/>
              <a:t>Multi-level grouping </a:t>
            </a:r>
            <a:r>
              <a:rPr lang="en-US" dirty="0"/>
              <a:t>by Company, Industry, Location to calculate total impact.</a:t>
            </a:r>
          </a:p>
          <a:p>
            <a:r>
              <a:rPr lang="en-US" b="1" dirty="0"/>
              <a:t>Data Persistence:</a:t>
            </a:r>
            <a:r>
              <a:rPr lang="en-US" dirty="0"/>
              <a:t> Exported cleaned dataset </a:t>
            </a:r>
            <a:r>
              <a:rPr lang="en-US" b="1" dirty="0"/>
              <a:t>to .xlsx </a:t>
            </a:r>
            <a:r>
              <a:rPr lang="en-US" dirty="0"/>
              <a:t>for Tableau integration.</a:t>
            </a:r>
          </a:p>
          <a:p>
            <a:pPr marL="0" indent="0">
              <a:buNone/>
            </a:pPr>
            <a:endParaRPr lang="en-US" b="1" u="sng" dirty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en-US" b="1" u="sng" dirty="0">
                <a:latin typeface="Bahnschrift Light" panose="020B0502040204020203" pitchFamily="34" charset="0"/>
              </a:rPr>
              <a:t>Stage 3: Business Intelligence (Tableau)</a:t>
            </a:r>
            <a:endParaRPr lang="en-US" u="sng" dirty="0">
              <a:latin typeface="Bahnschrift Light" panose="020B0502040204020203" pitchFamily="34" charset="0"/>
            </a:endParaRPr>
          </a:p>
          <a:p>
            <a:endParaRPr lang="en-US" b="1" dirty="0"/>
          </a:p>
          <a:p>
            <a:r>
              <a:rPr lang="en-US" b="1" dirty="0"/>
              <a:t>Visual Discovery:</a:t>
            </a:r>
            <a:r>
              <a:rPr lang="en-US" dirty="0"/>
              <a:t>  Created </a:t>
            </a:r>
            <a:r>
              <a:rPr lang="en-US" b="1" dirty="0"/>
              <a:t>interactive dashboards &amp; python visualization </a:t>
            </a:r>
            <a:r>
              <a:rPr lang="en-US" dirty="0"/>
              <a:t>to compare industries, companies, and regions for 2022–2023 layoffs.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1584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94805-42AE-A1A5-1500-E7FFFA587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E25A18-BB6C-086D-2F25-0B4D6621CA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108468"/>
            <a:ext cx="105156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overall layoff trends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tech industry during 2022–2023.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the most affected companies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terms of total layoffs.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Determine which industries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within tech were hit hardest.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Examine geographical patterns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highlighting regions or headquarters most impacted.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layoffs between 2022 and 2023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understand how trends changed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 key insights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Python (EDA),Python Visualization and Tableau dashboards for better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109935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02345-E7BE-3987-4549-4A5CD4E40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286"/>
            <a:ext cx="10515600" cy="712470"/>
          </a:xfrm>
        </p:spPr>
        <p:txBody>
          <a:bodyPr/>
          <a:lstStyle/>
          <a:p>
            <a:pPr algn="ctr"/>
            <a:r>
              <a:rPr lang="en-US" dirty="0"/>
              <a:t>DATASET DESIGN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528EEAA-4BD3-4132-6F8E-66AC8A085F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8586188"/>
              </p:ext>
            </p:extLst>
          </p:nvPr>
        </p:nvGraphicFramePr>
        <p:xfrm>
          <a:off x="1450975" y="2016125"/>
          <a:ext cx="9604376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2188">
                  <a:extLst>
                    <a:ext uri="{9D8B030D-6E8A-4147-A177-3AD203B41FA5}">
                      <a16:colId xmlns:a16="http://schemas.microsoft.com/office/drawing/2014/main" val="1540535287"/>
                    </a:ext>
                  </a:extLst>
                </a:gridCol>
                <a:gridCol w="4802188">
                  <a:extLst>
                    <a:ext uri="{9D8B030D-6E8A-4147-A177-3AD203B41FA5}">
                      <a16:colId xmlns:a16="http://schemas.microsoft.com/office/drawing/2014/main" val="14626421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COLUMN NAME</a:t>
                      </a:r>
                      <a:endParaRPr lang="en-IN" dirty="0"/>
                    </a:p>
                  </a:txBody>
                  <a:tcPr marL="83516" marR="835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  <a:endParaRPr lang="en-IN" dirty="0"/>
                    </a:p>
                  </a:txBody>
                  <a:tcPr marL="83516" marR="83516"/>
                </a:tc>
                <a:extLst>
                  <a:ext uri="{0D108BD9-81ED-4DB2-BD59-A6C34878D82A}">
                    <a16:rowId xmlns:a16="http://schemas.microsoft.com/office/drawing/2014/main" val="726434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company</a:t>
                      </a:r>
                      <a:endParaRPr lang="en-IN" b="1" dirty="0"/>
                    </a:p>
                  </a:txBody>
                  <a:tcPr marL="83516" marR="8351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Name of the technology company</a:t>
                      </a:r>
                      <a:endParaRPr lang="en-IN" b="1" dirty="0"/>
                    </a:p>
                  </a:txBody>
                  <a:tcPr marL="83516" marR="83516"/>
                </a:tc>
                <a:extLst>
                  <a:ext uri="{0D108BD9-81ED-4DB2-BD59-A6C34878D82A}">
                    <a16:rowId xmlns:a16="http://schemas.microsoft.com/office/drawing/2014/main" val="1149797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total_layoffs</a:t>
                      </a:r>
                      <a:endParaRPr lang="en-IN" b="1" dirty="0"/>
                    </a:p>
                  </a:txBody>
                  <a:tcPr marL="83516" marR="8351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Number of employees laid off</a:t>
                      </a:r>
                      <a:endParaRPr lang="en-IN" b="1" dirty="0"/>
                    </a:p>
                  </a:txBody>
                  <a:tcPr marL="83516" marR="83516"/>
                </a:tc>
                <a:extLst>
                  <a:ext uri="{0D108BD9-81ED-4DB2-BD59-A6C34878D82A}">
                    <a16:rowId xmlns:a16="http://schemas.microsoft.com/office/drawing/2014/main" val="136570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impacted_workforce_percentage</a:t>
                      </a:r>
                      <a:endParaRPr lang="en-IN" b="1" dirty="0"/>
                    </a:p>
                  </a:txBody>
                  <a:tcPr marL="83516" marR="8351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The share of a company’s total employees impacted by layoffs.”</a:t>
                      </a:r>
                      <a:endParaRPr lang="en-IN" b="1" dirty="0"/>
                    </a:p>
                  </a:txBody>
                  <a:tcPr marL="83516" marR="83516"/>
                </a:tc>
                <a:extLst>
                  <a:ext uri="{0D108BD9-81ED-4DB2-BD59-A6C34878D82A}">
                    <a16:rowId xmlns:a16="http://schemas.microsoft.com/office/drawing/2014/main" val="2627377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reported_date</a:t>
                      </a:r>
                      <a:endParaRPr lang="en-IN" b="1" dirty="0"/>
                    </a:p>
                  </a:txBody>
                  <a:tcPr marL="83516" marR="8351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Date when layoff was reported</a:t>
                      </a:r>
                      <a:endParaRPr lang="en-IN" b="1" dirty="0"/>
                    </a:p>
                  </a:txBody>
                  <a:tcPr marL="83516" marR="83516"/>
                </a:tc>
                <a:extLst>
                  <a:ext uri="{0D108BD9-81ED-4DB2-BD59-A6C34878D82A}">
                    <a16:rowId xmlns:a16="http://schemas.microsoft.com/office/drawing/2014/main" val="4057345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industry</a:t>
                      </a:r>
                    </a:p>
                  </a:txBody>
                  <a:tcPr marL="83516" marR="8351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Industry sector of company</a:t>
                      </a:r>
                      <a:endParaRPr lang="en-IN" b="1" dirty="0"/>
                    </a:p>
                  </a:txBody>
                  <a:tcPr marL="83516" marR="83516"/>
                </a:tc>
                <a:extLst>
                  <a:ext uri="{0D108BD9-81ED-4DB2-BD59-A6C34878D82A}">
                    <a16:rowId xmlns:a16="http://schemas.microsoft.com/office/drawing/2014/main" val="385652315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F540FEA-68AA-B9BF-55DA-D3B30C99F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983310"/>
              </p:ext>
            </p:extLst>
          </p:nvPr>
        </p:nvGraphicFramePr>
        <p:xfrm>
          <a:off x="1205474" y="4502931"/>
          <a:ext cx="10515600" cy="16693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06961">
                  <a:extLst>
                    <a:ext uri="{9D8B030D-6E8A-4147-A177-3AD203B41FA5}">
                      <a16:colId xmlns:a16="http://schemas.microsoft.com/office/drawing/2014/main" val="2530049427"/>
                    </a:ext>
                  </a:extLst>
                </a:gridCol>
                <a:gridCol w="5208639">
                  <a:extLst>
                    <a:ext uri="{9D8B030D-6E8A-4147-A177-3AD203B41FA5}">
                      <a16:colId xmlns:a16="http://schemas.microsoft.com/office/drawing/2014/main" val="337028183"/>
                    </a:ext>
                  </a:extLst>
                </a:gridCol>
              </a:tblGrid>
              <a:tr h="514630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headquarter_location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Location of company headquarter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144252"/>
                  </a:ext>
                </a:extLst>
              </a:tr>
              <a:tr h="51463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whether a company is publicly traded or privately owned.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583233"/>
                  </a:ext>
                </a:extLst>
              </a:tr>
              <a:tr h="51463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Source link of layoff information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12110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EA45DA4-4192-83C5-E929-0538B3B0C5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100398"/>
              </p:ext>
            </p:extLst>
          </p:nvPr>
        </p:nvGraphicFramePr>
        <p:xfrm>
          <a:off x="1081395" y="6065684"/>
          <a:ext cx="10515599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515599">
                  <a:extLst>
                    <a:ext uri="{9D8B030D-6E8A-4147-A177-3AD203B41FA5}">
                      <a16:colId xmlns:a16="http://schemas.microsoft.com/office/drawing/2014/main" val="33827989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additional_notes</a:t>
                      </a:r>
                      <a:r>
                        <a:rPr lang="en-IN" b="1" dirty="0"/>
                        <a:t>                                                                        </a:t>
                      </a:r>
                      <a:r>
                        <a:rPr lang="en-US" b="1" dirty="0"/>
                        <a:t>Extra remarks related to the layoff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54142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DABE0DC-AA0E-89AF-27BD-5DCDC609FE57}"/>
              </a:ext>
            </a:extLst>
          </p:cNvPr>
          <p:cNvSpPr txBox="1"/>
          <p:nvPr/>
        </p:nvSpPr>
        <p:spPr>
          <a:xfrm>
            <a:off x="1071716" y="977858"/>
            <a:ext cx="84557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Raw Dataset :     Contains unprocessed and inconsistent values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968969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5FA43-D16F-C482-2793-9E8F62439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142" y="245806"/>
            <a:ext cx="11127658" cy="593115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u="sng" dirty="0"/>
              <a:t>Dropped Columns Are:</a:t>
            </a:r>
            <a:endParaRPr lang="en-US" sz="2400" u="sng" dirty="0"/>
          </a:p>
          <a:p>
            <a:r>
              <a:rPr lang="en-US" sz="2400" dirty="0"/>
              <a:t>sources</a:t>
            </a:r>
          </a:p>
          <a:p>
            <a:r>
              <a:rPr lang="en-US" sz="2400" dirty="0" err="1"/>
              <a:t>additional_notes</a:t>
            </a:r>
            <a:endParaRPr lang="en-US" sz="2400" dirty="0"/>
          </a:p>
          <a:p>
            <a:pPr marL="0" indent="0">
              <a:buNone/>
            </a:pPr>
            <a:endParaRPr lang="en-US" sz="2400" b="1" u="sng" dirty="0"/>
          </a:p>
          <a:p>
            <a:pPr marL="0" indent="0">
              <a:buNone/>
            </a:pPr>
            <a:r>
              <a:rPr lang="en-US" sz="2400" b="1" u="sng" dirty="0"/>
              <a:t>Reason</a:t>
            </a:r>
            <a:endParaRPr lang="en-US" sz="2400" u="sng" dirty="0"/>
          </a:p>
          <a:p>
            <a:r>
              <a:rPr lang="en-US" sz="2400" dirty="0"/>
              <a:t>Not required for exploratory analysis</a:t>
            </a:r>
          </a:p>
          <a:p>
            <a:r>
              <a:rPr lang="en-US" sz="2400" dirty="0"/>
              <a:t>Do not contribute to numerical or categorical insights</a:t>
            </a:r>
          </a:p>
          <a:p>
            <a:pPr marL="0" indent="0">
              <a:buNone/>
            </a:pPr>
            <a:endParaRPr lang="en-US" sz="2400" b="1" u="sng" dirty="0"/>
          </a:p>
          <a:p>
            <a:pPr marL="0" indent="0">
              <a:buNone/>
            </a:pPr>
            <a:r>
              <a:rPr lang="en-US" sz="2400" b="1" u="sng" dirty="0"/>
              <a:t>Data Cleaning</a:t>
            </a:r>
            <a:endParaRPr lang="en-US" sz="2400" u="sng" dirty="0"/>
          </a:p>
          <a:p>
            <a:r>
              <a:rPr lang="en-US" sz="2400" dirty="0"/>
              <a:t>Converted </a:t>
            </a:r>
            <a:r>
              <a:rPr lang="en-US" sz="2400" dirty="0" err="1"/>
              <a:t>total_layoffs</a:t>
            </a:r>
            <a:r>
              <a:rPr lang="en-US" sz="2400" dirty="0"/>
              <a:t> and </a:t>
            </a:r>
            <a:r>
              <a:rPr lang="en-IN" sz="2400" dirty="0" err="1"/>
              <a:t>impacted_workforce_percentage</a:t>
            </a:r>
            <a:r>
              <a:rPr lang="en-US" sz="2400" dirty="0"/>
              <a:t> to numeric</a:t>
            </a:r>
          </a:p>
          <a:p>
            <a:r>
              <a:rPr lang="en-US" sz="2400" dirty="0"/>
              <a:t>Handled missing and invalid values</a:t>
            </a:r>
          </a:p>
          <a:p>
            <a:r>
              <a:rPr lang="en-US" sz="2400" dirty="0"/>
              <a:t>Preserved original data using </a:t>
            </a:r>
            <a:r>
              <a:rPr lang="en-US" sz="2400" dirty="0" err="1"/>
              <a:t>raw_df</a:t>
            </a:r>
            <a:endParaRPr lang="en-US" sz="2400" dirty="0"/>
          </a:p>
          <a:p>
            <a:r>
              <a:rPr lang="en-US" sz="2400" dirty="0"/>
              <a:t>Date attributes (</a:t>
            </a:r>
            <a:r>
              <a:rPr lang="en-US" sz="2400" b="1" dirty="0"/>
              <a:t>Year, Month, Day, </a:t>
            </a:r>
            <a:r>
              <a:rPr lang="en-US" sz="2400" b="1" dirty="0" err="1"/>
              <a:t>month_name</a:t>
            </a:r>
            <a:r>
              <a:rPr lang="en-US" sz="2400" dirty="0"/>
              <a:t>) were extracted from </a:t>
            </a:r>
            <a:r>
              <a:rPr lang="en-US" sz="2400" b="1" dirty="0" err="1"/>
              <a:t>reported_date</a:t>
            </a:r>
            <a:r>
              <a:rPr lang="en-US" sz="2400" b="1" dirty="0"/>
              <a:t> </a:t>
            </a:r>
            <a:r>
              <a:rPr lang="en-US" sz="2400" dirty="0"/>
              <a:t>for time-based analysis</a:t>
            </a:r>
          </a:p>
          <a:p>
            <a:endParaRPr lang="en-US" sz="2400" dirty="0"/>
          </a:p>
          <a:p>
            <a:endParaRPr lang="en-US" sz="18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0959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1AE9C-1637-A2C6-8E4B-541092358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316"/>
            <a:ext cx="10515600" cy="6019647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Cleaned Dataset : Used for EDA and Visualizations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F6E754-A8DC-269B-123D-3A6D7E04F41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8739406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92883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55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171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235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383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415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92494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A509AF8-486C-CB64-2742-C8E48DCF33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601267"/>
              </p:ext>
            </p:extLst>
          </p:nvPr>
        </p:nvGraphicFramePr>
        <p:xfrm>
          <a:off x="2032000" y="719664"/>
          <a:ext cx="8128000" cy="308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5351171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558613902"/>
                    </a:ext>
                  </a:extLst>
                </a:gridCol>
              </a:tblGrid>
              <a:tr h="4515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COLUMN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539848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                 company      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Name of the technology company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256506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                </a:t>
                      </a:r>
                      <a:r>
                        <a:rPr lang="en-IN" b="1" dirty="0" err="1"/>
                        <a:t>total_layoffs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Number of employees in object format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443073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impacted_workforce_percentage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The share of a company’s total employees in object format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51239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reported_date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Date when layoff was reported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682197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industry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Industry sector of company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70973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656AD7-84A5-B50C-AB38-23C56C6632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653827"/>
              </p:ext>
            </p:extLst>
          </p:nvPr>
        </p:nvGraphicFramePr>
        <p:xfrm>
          <a:off x="2032000" y="3469312"/>
          <a:ext cx="8128000" cy="22376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7619481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21833918"/>
                    </a:ext>
                  </a:extLst>
                </a:gridCol>
              </a:tblGrid>
              <a:tr h="359251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headquarter_location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Location of company </a:t>
                      </a:r>
                      <a:r>
                        <a:rPr lang="en-US" b="1" dirty="0" err="1"/>
                        <a:t>headquater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911395"/>
                  </a:ext>
                </a:extLst>
              </a:tr>
              <a:tr h="3642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Current status of company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663540"/>
                  </a:ext>
                </a:extLst>
              </a:tr>
              <a:tr h="40882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Year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Extracted for time based analysis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603302"/>
                  </a:ext>
                </a:extLst>
              </a:tr>
              <a:tr h="36424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Month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Extracted from date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939037"/>
                  </a:ext>
                </a:extLst>
              </a:tr>
              <a:tr h="36424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Day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Extracted from date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095960"/>
                  </a:ext>
                </a:extLst>
              </a:tr>
              <a:tr h="364241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month_name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Extracted from date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06673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C391CC9-1239-5D08-1C79-2ACBBAFB77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340493"/>
              </p:ext>
            </p:extLst>
          </p:nvPr>
        </p:nvGraphicFramePr>
        <p:xfrm>
          <a:off x="2032000" y="5676589"/>
          <a:ext cx="8128000" cy="74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58908497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71941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total_layoffs_numeric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Contains </a:t>
                      </a:r>
                      <a:r>
                        <a:rPr lang="en-US" b="1" dirty="0" err="1"/>
                        <a:t>numeic</a:t>
                      </a:r>
                      <a:r>
                        <a:rPr lang="en-US" b="1" dirty="0"/>
                        <a:t> values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778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workforce_percentage_numeric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Contains numeric values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040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702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88005-6A3D-9505-8348-936B5E370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1682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ALGORITHM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A1D976-C64A-4013-3F49-5CADE6B9C0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0606" y="691355"/>
            <a:ext cx="10515600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Ingestion: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Load the raw CSV file from Kaggle using Pandas.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Preservation: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 a copy for data safety.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b="1" dirty="0">
                <a:latin typeface="Arial" panose="020B0604020202020204" pitchFamily="34" charset="0"/>
              </a:rPr>
              <a:t> Data Preprocessing 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Drop non-essential columns (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sources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notes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Conversion (Numeric Coercion):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Convert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total_layoffs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impacted_workforce_percentage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Numeric (Float/Int).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Conversion: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reported_date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DateTime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format.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Extract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Year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Month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from the date objects.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Remove rows with null values in target columns to prevent skewed results.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Aggregation: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Group data by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Industry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Company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.sum()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Save the cleaned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dataframe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Excel for Business Intelligence visualization.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610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6494C-E229-1490-4927-0BBB80C78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911"/>
            <a:ext cx="10515600" cy="76199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BLOCK DIAGRAM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3816D-F39F-817B-F5A1-B6EC5EA4B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141" y="1224117"/>
            <a:ext cx="11680723" cy="524666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dirty="0"/>
              <a:t>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112C80-74D6-56EB-A30C-4BF28CB2F1A6}"/>
              </a:ext>
            </a:extLst>
          </p:cNvPr>
          <p:cNvSpPr/>
          <p:nvPr/>
        </p:nvSpPr>
        <p:spPr>
          <a:xfrm>
            <a:off x="639098" y="3185652"/>
            <a:ext cx="1986116" cy="11405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Aggregation              (Company / Industry / Location)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D64FAB-25AB-138D-0677-18841DCE3EF3}"/>
              </a:ext>
            </a:extLst>
          </p:cNvPr>
          <p:cNvSpPr/>
          <p:nvPr/>
        </p:nvSpPr>
        <p:spPr>
          <a:xfrm>
            <a:off x="3048000" y="1425678"/>
            <a:ext cx="2369574" cy="8554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Data Loading (Pandas)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109136-EC72-9FA6-7E89-3C16C08D2342}"/>
              </a:ext>
            </a:extLst>
          </p:cNvPr>
          <p:cNvSpPr/>
          <p:nvPr/>
        </p:nvSpPr>
        <p:spPr>
          <a:xfrm>
            <a:off x="6096000" y="1297858"/>
            <a:ext cx="1779639" cy="9832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Data Preservation (raw_df)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1C19AD-274B-ECC8-4182-ABFF8940ED8B}"/>
              </a:ext>
            </a:extLst>
          </p:cNvPr>
          <p:cNvSpPr/>
          <p:nvPr/>
        </p:nvSpPr>
        <p:spPr>
          <a:xfrm>
            <a:off x="8367251" y="1297858"/>
            <a:ext cx="2585884" cy="9832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Preprocessing            </a:t>
            </a:r>
          </a:p>
          <a:p>
            <a:pPr algn="ctr"/>
            <a:r>
              <a:rPr lang="en-IN" dirty="0"/>
              <a:t>(Drop irrelevant columns)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2FC940-C0B3-4797-D845-E97C90E79C6E}"/>
              </a:ext>
            </a:extLst>
          </p:cNvPr>
          <p:cNvSpPr/>
          <p:nvPr/>
        </p:nvSpPr>
        <p:spPr>
          <a:xfrm>
            <a:off x="540775" y="1396181"/>
            <a:ext cx="1887794" cy="1229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Raw Dataset (CSV – Kaggle)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63BF1A-F5CC-465E-6F9A-7FCC4B9F0076}"/>
              </a:ext>
            </a:extLst>
          </p:cNvPr>
          <p:cNvSpPr/>
          <p:nvPr/>
        </p:nvSpPr>
        <p:spPr>
          <a:xfrm>
            <a:off x="3451123" y="3126658"/>
            <a:ext cx="2054942" cy="13076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Cleaning              (Remove null values)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335F01-832B-E5AF-5156-7DF8D75DCC24}"/>
              </a:ext>
            </a:extLst>
          </p:cNvPr>
          <p:cNvSpPr/>
          <p:nvPr/>
        </p:nvSpPr>
        <p:spPr>
          <a:xfrm>
            <a:off x="6184491" y="3126658"/>
            <a:ext cx="2054941" cy="13076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Feature Engineering        (Year, Month, Day)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56A019-7E5C-275A-AA55-4E289F5AA201}"/>
              </a:ext>
            </a:extLst>
          </p:cNvPr>
          <p:cNvSpPr/>
          <p:nvPr/>
        </p:nvSpPr>
        <p:spPr>
          <a:xfrm>
            <a:off x="9153832" y="3126658"/>
            <a:ext cx="2199968" cy="13076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Type Conversion             (Numeric &amp; </a:t>
            </a:r>
            <a:r>
              <a:rPr lang="en-IN" dirty="0" err="1"/>
              <a:t>DateTime</a:t>
            </a:r>
            <a:r>
              <a:rPr lang="en-IN" dirty="0"/>
              <a:t>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5C6F49-2537-085F-71CF-52BD5DEF5333}"/>
              </a:ext>
            </a:extLst>
          </p:cNvPr>
          <p:cNvSpPr/>
          <p:nvPr/>
        </p:nvSpPr>
        <p:spPr>
          <a:xfrm>
            <a:off x="442453" y="4847303"/>
            <a:ext cx="1986116" cy="1229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Cleaned Dataset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B8F3DE-8678-508A-C7D7-939E09122FDA}"/>
              </a:ext>
            </a:extLst>
          </p:cNvPr>
          <p:cNvSpPr/>
          <p:nvPr/>
        </p:nvSpPr>
        <p:spPr>
          <a:xfrm>
            <a:off x="3598606" y="4857135"/>
            <a:ext cx="2054942" cy="13076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BI Visualization (Tableau)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B9A2FA0-B347-B6B3-09AD-869C260A7E16}"/>
              </a:ext>
            </a:extLst>
          </p:cNvPr>
          <p:cNvSpPr/>
          <p:nvPr/>
        </p:nvSpPr>
        <p:spPr>
          <a:xfrm>
            <a:off x="2625214" y="1789471"/>
            <a:ext cx="294967" cy="1769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793E553-BCCF-2212-EE12-9ECAB8F73AD9}"/>
              </a:ext>
            </a:extLst>
          </p:cNvPr>
          <p:cNvSpPr/>
          <p:nvPr/>
        </p:nvSpPr>
        <p:spPr>
          <a:xfrm>
            <a:off x="5653548" y="1789471"/>
            <a:ext cx="255638" cy="1769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06BAA5CC-CE73-8BD0-ABF3-19057D40FF08}"/>
              </a:ext>
            </a:extLst>
          </p:cNvPr>
          <p:cNvSpPr/>
          <p:nvPr/>
        </p:nvSpPr>
        <p:spPr>
          <a:xfrm>
            <a:off x="8091948" y="1789471"/>
            <a:ext cx="275303" cy="1769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B6309EAF-67A9-1195-5D04-2AD96DD74A90}"/>
              </a:ext>
            </a:extLst>
          </p:cNvPr>
          <p:cNvSpPr/>
          <p:nvPr/>
        </p:nvSpPr>
        <p:spPr>
          <a:xfrm>
            <a:off x="10205884" y="2369574"/>
            <a:ext cx="363793" cy="6194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Left 21">
            <a:extLst>
              <a:ext uri="{FF2B5EF4-FFF2-40B4-BE49-F238E27FC236}">
                <a16:creationId xmlns:a16="http://schemas.microsoft.com/office/drawing/2014/main" id="{9C360223-9F5B-5A25-FD75-CE068D5188FD}"/>
              </a:ext>
            </a:extLst>
          </p:cNvPr>
          <p:cNvSpPr/>
          <p:nvPr/>
        </p:nvSpPr>
        <p:spPr>
          <a:xfrm>
            <a:off x="8367251" y="3657600"/>
            <a:ext cx="403123" cy="25563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Left 22">
            <a:extLst>
              <a:ext uri="{FF2B5EF4-FFF2-40B4-BE49-F238E27FC236}">
                <a16:creationId xmlns:a16="http://schemas.microsoft.com/office/drawing/2014/main" id="{E04D975F-D56C-576E-AB07-5482ADCABC2B}"/>
              </a:ext>
            </a:extLst>
          </p:cNvPr>
          <p:cNvSpPr/>
          <p:nvPr/>
        </p:nvSpPr>
        <p:spPr>
          <a:xfrm>
            <a:off x="5633884" y="3588774"/>
            <a:ext cx="275302" cy="12781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Left 23">
            <a:extLst>
              <a:ext uri="{FF2B5EF4-FFF2-40B4-BE49-F238E27FC236}">
                <a16:creationId xmlns:a16="http://schemas.microsoft.com/office/drawing/2014/main" id="{A2E8BBD5-E200-C21B-CED7-9C818EA5CC07}"/>
              </a:ext>
            </a:extLst>
          </p:cNvPr>
          <p:cNvSpPr/>
          <p:nvPr/>
        </p:nvSpPr>
        <p:spPr>
          <a:xfrm>
            <a:off x="2772697" y="3588774"/>
            <a:ext cx="363793" cy="32446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B1E8633D-71B4-83B8-2160-8F2718A6CC7A}"/>
              </a:ext>
            </a:extLst>
          </p:cNvPr>
          <p:cNvSpPr/>
          <p:nvPr/>
        </p:nvSpPr>
        <p:spPr>
          <a:xfrm>
            <a:off x="1179871" y="4434348"/>
            <a:ext cx="314632" cy="304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FAD23CD1-1A51-FF8B-5B48-E1F4C1079A5C}"/>
              </a:ext>
            </a:extLst>
          </p:cNvPr>
          <p:cNvSpPr/>
          <p:nvPr/>
        </p:nvSpPr>
        <p:spPr>
          <a:xfrm>
            <a:off x="2920181" y="5181600"/>
            <a:ext cx="530942" cy="4522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351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B0AEE-166E-3E03-50B1-14F4940B2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SOFTWARE &amp; HARDWARE USED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A0D76E-D188-9801-C860-CC2CC3EAE4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1220" y="2675731"/>
            <a:ext cx="705917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Software: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Windows 11,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Notebook, Tableau Public.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Hardware: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Intel i5 Processor, </a:t>
            </a:r>
          </a:p>
        </p:txBody>
      </p:sp>
    </p:spTree>
    <p:extLst>
      <p:ext uri="{BB962C8B-B14F-4D97-AF65-F5344CB8AC3E}">
        <p14:creationId xmlns:p14="http://schemas.microsoft.com/office/powerpoint/2010/main" val="3571107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66317-2E85-CB47-F2CD-F90FAAB8F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"/>
            <a:ext cx="9603275" cy="707922"/>
          </a:xfrm>
        </p:spPr>
        <p:txBody>
          <a:bodyPr/>
          <a:lstStyle/>
          <a:p>
            <a:pPr algn="ctr"/>
            <a:r>
              <a:rPr lang="en-US" dirty="0"/>
              <a:t>TOOLS &amp; TECHNOLOGIES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A960A-0211-9943-7050-4E25A0E8D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1" y="737420"/>
            <a:ext cx="10744200" cy="5132439"/>
          </a:xfrm>
        </p:spPr>
        <p:txBody>
          <a:bodyPr>
            <a:normAutofit fontScale="62500" lnSpcReduction="20000"/>
          </a:bodyPr>
          <a:lstStyle/>
          <a:p>
            <a:r>
              <a:rPr lang="en-US" sz="3400" b="1" dirty="0"/>
              <a:t>Python (Pandas)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2600" dirty="0"/>
              <a:t>Used for data manipulation, preprocessing, and cleaning operations such as filtering, type conversion, and feature engineering.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3400" b="1" dirty="0"/>
              <a:t>Python (NumPy)</a:t>
            </a:r>
            <a:br>
              <a:rPr lang="en-US" dirty="0"/>
            </a:br>
            <a:r>
              <a:rPr lang="en-US" dirty="0"/>
              <a:t>         </a:t>
            </a:r>
          </a:p>
          <a:p>
            <a:pPr marL="0" indent="0">
              <a:buNone/>
            </a:pPr>
            <a:r>
              <a:rPr lang="en-US" sz="2600" dirty="0"/>
              <a:t>Used for numerical computations and efficient handling of missing (</a:t>
            </a:r>
            <a:r>
              <a:rPr lang="en-US" sz="2600" dirty="0" err="1"/>
              <a:t>NaN</a:t>
            </a:r>
            <a:r>
              <a:rPr lang="en-US" sz="2600" dirty="0"/>
              <a:t>) values.</a:t>
            </a:r>
          </a:p>
          <a:p>
            <a:endParaRPr lang="en-US" dirty="0"/>
          </a:p>
          <a:p>
            <a:r>
              <a:rPr lang="en-US" sz="3400" b="1" dirty="0"/>
              <a:t>Tableau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2600" dirty="0"/>
              <a:t>Used for advanced data visualization, aggregation, and creation of interactive dashboards and stories.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3400" b="1" dirty="0" err="1"/>
              <a:t>OpenPyXL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sz="2600" dirty="0"/>
              <a:t>Used to enable seamless interaction between Python and Excel for exporting cleaned datasets.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1484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7974D-D329-AE3A-D2EB-74C9256F4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WORKFLOW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56732-C2F3-BD5F-128C-609F7552D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4839"/>
            <a:ext cx="10515600" cy="4702124"/>
          </a:xfrm>
        </p:spPr>
        <p:txBody>
          <a:bodyPr>
            <a:normAutofit fontScale="85000" lnSpcReduction="20000"/>
          </a:bodyPr>
          <a:lstStyle/>
          <a:p>
            <a:r>
              <a:rPr lang="en-US" sz="2400" b="1" dirty="0"/>
              <a:t>Data Collection</a:t>
            </a:r>
            <a:endParaRPr lang="en-US" sz="2400" dirty="0"/>
          </a:p>
          <a:p>
            <a:pPr marL="457200" lvl="1" indent="0">
              <a:buNone/>
            </a:pPr>
            <a:r>
              <a:rPr lang="en-US" dirty="0"/>
              <a:t>Sourced the Technology Company Layoffs dataset from Kaggle.</a:t>
            </a:r>
          </a:p>
          <a:p>
            <a:endParaRPr lang="en-US" sz="2400" b="1" dirty="0"/>
          </a:p>
          <a:p>
            <a:r>
              <a:rPr lang="en-US" sz="2400" b="1" dirty="0"/>
              <a:t>Data Transformation</a:t>
            </a:r>
            <a:endParaRPr lang="en-US" sz="2400" dirty="0"/>
          </a:p>
          <a:p>
            <a:pPr lvl="1"/>
            <a:r>
              <a:rPr lang="en-US" dirty="0"/>
              <a:t>Converted text-based layoff and workforce percentage fields into numeric format.</a:t>
            </a:r>
          </a:p>
          <a:p>
            <a:pPr lvl="1"/>
            <a:r>
              <a:rPr lang="en-US" dirty="0"/>
              <a:t>Processed date fields and derived time-based features.</a:t>
            </a:r>
          </a:p>
          <a:p>
            <a:endParaRPr lang="en-US" sz="2400" b="1" dirty="0"/>
          </a:p>
          <a:p>
            <a:r>
              <a:rPr lang="en-US" sz="2400" b="1" dirty="0"/>
              <a:t>Data Exploration</a:t>
            </a:r>
            <a:endParaRPr lang="en-US" sz="2400" dirty="0"/>
          </a:p>
          <a:p>
            <a:pPr marL="457200" lvl="1" indent="0">
              <a:buNone/>
            </a:pPr>
            <a:r>
              <a:rPr lang="en-US" dirty="0"/>
              <a:t>Performed exploratory data analysis by grouping and aggregating data by </a:t>
            </a:r>
            <a:r>
              <a:rPr lang="en-US" b="1" dirty="0"/>
              <a:t>industry</a:t>
            </a:r>
            <a:r>
              <a:rPr lang="en-US" dirty="0"/>
              <a:t>, </a:t>
            </a:r>
            <a:r>
              <a:rPr lang="en-US" b="1" dirty="0"/>
              <a:t>company</a:t>
            </a:r>
            <a:r>
              <a:rPr lang="en-US" dirty="0"/>
              <a:t>, and </a:t>
            </a:r>
            <a:r>
              <a:rPr lang="en-US" b="1" dirty="0"/>
              <a:t>location</a:t>
            </a:r>
            <a:r>
              <a:rPr lang="en-US" dirty="0"/>
              <a:t> to identify the </a:t>
            </a:r>
            <a:r>
              <a:rPr lang="en-US" b="1" dirty="0"/>
              <a:t>hardest-hit sectors</a:t>
            </a:r>
            <a:r>
              <a:rPr lang="en-US" dirty="0"/>
              <a:t>.</a:t>
            </a:r>
          </a:p>
          <a:p>
            <a:endParaRPr lang="en-US" sz="2400" b="1" dirty="0"/>
          </a:p>
          <a:p>
            <a:r>
              <a:rPr lang="en-US" sz="2400" b="1" dirty="0"/>
              <a:t>Reporting &amp; Visualization</a:t>
            </a:r>
            <a:endParaRPr lang="en-US" sz="2400" dirty="0"/>
          </a:p>
          <a:p>
            <a:pPr marL="457200" lvl="1" indent="0">
              <a:buNone/>
            </a:pPr>
            <a:r>
              <a:rPr lang="en-US" dirty="0"/>
              <a:t>Created visual insights and dashboards using </a:t>
            </a:r>
            <a:r>
              <a:rPr lang="en-US" b="1" dirty="0"/>
              <a:t>Tableau and </a:t>
            </a:r>
            <a:r>
              <a:rPr lang="en-US" b="1"/>
              <a:t>python visualization libraries</a:t>
            </a:r>
            <a:r>
              <a:rPr lang="en-US"/>
              <a:t> </a:t>
            </a:r>
            <a:r>
              <a:rPr lang="en-US" dirty="0"/>
              <a:t>to support analytical findings.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0220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56480-096D-7BA6-4274-FBDBBD8A4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246" y="365125"/>
            <a:ext cx="10146890" cy="94256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Results &amp; Visualization Screenshots in Tableau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7F4A5CE-7303-ACFD-CB09-5B075BAD58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8" t="14503" b="6123"/>
          <a:stretch>
            <a:fillRect/>
          </a:stretch>
        </p:blipFill>
        <p:spPr>
          <a:xfrm>
            <a:off x="1081548" y="1591408"/>
            <a:ext cx="10146889" cy="4701237"/>
          </a:xfrm>
        </p:spPr>
      </p:pic>
    </p:spTree>
    <p:extLst>
      <p:ext uri="{BB962C8B-B14F-4D97-AF65-F5344CB8AC3E}">
        <p14:creationId xmlns:p14="http://schemas.microsoft.com/office/powerpoint/2010/main" val="2015810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FCC0D-3373-5880-3B8E-911C33DB0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223" y="202223"/>
            <a:ext cx="11151577" cy="597474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/>
              <a:t>1. Top Companies by Total Layoffs</a:t>
            </a:r>
          </a:p>
          <a:p>
            <a:r>
              <a:rPr lang="en-US" sz="2000" b="1" dirty="0"/>
              <a:t>Findings:</a:t>
            </a:r>
            <a:br>
              <a:rPr lang="en-US" sz="2000" dirty="0"/>
            </a:br>
            <a:r>
              <a:rPr lang="en-US" sz="2000" dirty="0"/>
              <a:t>Amazon leads with the highest number of layoffs (approximately 18K ), followed by Alphabet (Google), Meta, and Microsoft.</a:t>
            </a:r>
          </a:p>
          <a:p>
            <a:r>
              <a:rPr lang="en-US" sz="2000" b="1" dirty="0"/>
              <a:t>Analysis:</a:t>
            </a:r>
            <a:br>
              <a:rPr lang="en-US" sz="2000" dirty="0"/>
            </a:br>
            <a:r>
              <a:rPr lang="en-US" sz="2000" dirty="0"/>
              <a:t>This indicates that the 2022–2023 market correction was primarily driven by large technology companies. These organizations expanded rapidly during the pandemic and later optimized their workforce as part of cost-restructuring and efficiency measures.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2. Top Industry-wise Total Layoffs</a:t>
            </a:r>
          </a:p>
          <a:p>
            <a:r>
              <a:rPr lang="en-US" sz="2000" b="1" dirty="0"/>
              <a:t>Findings:</a:t>
            </a:r>
            <a:br>
              <a:rPr lang="en-US" sz="2000" dirty="0"/>
            </a:br>
            <a:r>
              <a:rPr lang="en-US" sz="2000" dirty="0"/>
              <a:t>The E-commerce industry shows the highest layoffs(18,000 </a:t>
            </a:r>
            <a:r>
              <a:rPr lang="en-US" sz="2000" dirty="0" err="1"/>
              <a:t>approx</a:t>
            </a:r>
            <a:r>
              <a:rPr lang="en-US" sz="2000" dirty="0"/>
              <a:t>), followed by Social Media and Big Tech/Big Data sectors.</a:t>
            </a:r>
          </a:p>
          <a:p>
            <a:r>
              <a:rPr lang="en-US" sz="2000" b="1" dirty="0"/>
              <a:t>Analysis:</a:t>
            </a:r>
            <a:br>
              <a:rPr lang="en-US" sz="2000" dirty="0"/>
            </a:br>
            <a:r>
              <a:rPr lang="en-US" sz="2000" dirty="0"/>
              <a:t>This trend reflects a post-pandemic shift in consumer behavior, where demand moved back toward offline services. As a result, digital-first industries faced higher cost pressures, leading to workforce reductions.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49981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56F3B-1E2C-8B69-1612-0E69F7193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392" y="316523"/>
            <a:ext cx="11116408" cy="586044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3. Location-based Layoffs</a:t>
            </a:r>
          </a:p>
          <a:p>
            <a:r>
              <a:rPr lang="en-US" sz="2400" b="1" dirty="0"/>
              <a:t>Findings:</a:t>
            </a:r>
            <a:br>
              <a:rPr lang="en-US" sz="2400" dirty="0"/>
            </a:br>
            <a:r>
              <a:rPr lang="en-US" sz="2400" dirty="0"/>
              <a:t>San Francisco (35,745 </a:t>
            </a:r>
            <a:r>
              <a:rPr lang="en-US" sz="2400" dirty="0" err="1"/>
              <a:t>appro</a:t>
            </a:r>
            <a:r>
              <a:rPr lang="en-US" sz="2400" dirty="0"/>
              <a:t>) and Seattle (35,477 approx.) report significantly higher layoffs compared to other locations.</a:t>
            </a:r>
          </a:p>
          <a:p>
            <a:r>
              <a:rPr lang="en-US" sz="2400" b="1" dirty="0"/>
              <a:t>Analysis:</a:t>
            </a:r>
            <a:br>
              <a:rPr lang="en-US" sz="2400" dirty="0"/>
            </a:br>
            <a:r>
              <a:rPr lang="en-US" sz="2400" dirty="0"/>
              <a:t>This demonstrates the geographical concentration of layoffs in major technology hubs. Since these cities host headquarters of large tech firms, workforce reductions were more visible in these regions.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8707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B8404A-E722-0FF4-93BB-F9B385BA79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77" t="15923" r="722" b="7663"/>
          <a:stretch>
            <a:fillRect/>
          </a:stretch>
        </p:blipFill>
        <p:spPr>
          <a:xfrm>
            <a:off x="737419" y="403123"/>
            <a:ext cx="10726994" cy="6125497"/>
          </a:xfrm>
        </p:spPr>
      </p:pic>
    </p:spTree>
    <p:extLst>
      <p:ext uri="{BB962C8B-B14F-4D97-AF65-F5344CB8AC3E}">
        <p14:creationId xmlns:p14="http://schemas.microsoft.com/office/powerpoint/2010/main" val="157413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D75B1-F632-4391-E8FE-3B97B4DF8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7054"/>
            <a:ext cx="11125200" cy="600990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000" b="1" dirty="0"/>
              <a:t>4. Total Layoffs by Company Status</a:t>
            </a:r>
          </a:p>
          <a:p>
            <a:pPr marL="0" indent="0">
              <a:buNone/>
            </a:pPr>
            <a:r>
              <a:rPr lang="en-US" sz="2000" b="1" dirty="0"/>
              <a:t>Findings:</a:t>
            </a:r>
            <a:endParaRPr lang="en-US" sz="2000" dirty="0"/>
          </a:p>
          <a:p>
            <a:r>
              <a:rPr lang="en-US" sz="2000" b="1" dirty="0"/>
              <a:t>Public companies</a:t>
            </a:r>
            <a:r>
              <a:rPr lang="en-US" sz="2000" dirty="0"/>
              <a:t> account for a </a:t>
            </a:r>
            <a:r>
              <a:rPr lang="en-US" sz="2000" b="1" dirty="0"/>
              <a:t>larger share of total layoffs</a:t>
            </a:r>
            <a:r>
              <a:rPr lang="en-US" sz="2000" dirty="0"/>
              <a:t> compared to private companies.</a:t>
            </a:r>
          </a:p>
          <a:p>
            <a:r>
              <a:rPr lang="en-US" sz="2000" dirty="0"/>
              <a:t>Private companies contribute a smaller, but still significant, portion of layoffs.</a:t>
            </a:r>
          </a:p>
          <a:p>
            <a:pPr marL="0" indent="0">
              <a:buNone/>
            </a:pPr>
            <a:r>
              <a:rPr lang="en-US" sz="2000" b="1" dirty="0"/>
              <a:t>Analysis:</a:t>
            </a:r>
            <a:br>
              <a:rPr lang="en-US" sz="2000" dirty="0"/>
            </a:br>
            <a:r>
              <a:rPr lang="en-US" sz="2000" dirty="0"/>
              <a:t>Public companies are more exposed to market pressure, shareholder expectations, and quarterly performance targets. As a result, they tend to implement workforce reductions more aggressively during economic slowdowns.</a:t>
            </a:r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5. Workforce Percentage vs Total Layoffs</a:t>
            </a:r>
          </a:p>
          <a:p>
            <a:r>
              <a:rPr lang="en-US" sz="2000" dirty="0"/>
              <a:t>The scatter plot reveals that while some companies had massive layoff counts (18K), their </a:t>
            </a:r>
            <a:r>
              <a:rPr lang="en-US" sz="2000" b="1" dirty="0"/>
              <a:t>impacted workforce percentage</a:t>
            </a:r>
            <a:r>
              <a:rPr lang="en-US" sz="2000" dirty="0"/>
              <a:t> was relatively low (around 5%).</a:t>
            </a:r>
          </a:p>
          <a:p>
            <a:r>
              <a:rPr lang="en-US" sz="2000" dirty="0"/>
              <a:t>Companies with a </a:t>
            </a:r>
            <a:r>
              <a:rPr lang="en-US" sz="2000" b="1" dirty="0"/>
              <a:t>small workforce percentage affected</a:t>
            </a:r>
            <a:r>
              <a:rPr lang="en-US" sz="2000" dirty="0"/>
              <a:t> can still report </a:t>
            </a:r>
            <a:r>
              <a:rPr lang="en-US" sz="2000" b="1" dirty="0"/>
              <a:t>high total layoffs</a:t>
            </a:r>
            <a:r>
              <a:rPr lang="en-US" sz="2000" dirty="0"/>
              <a:t>.</a:t>
            </a:r>
          </a:p>
          <a:p>
            <a:r>
              <a:rPr lang="en-US" sz="2000" dirty="0"/>
              <a:t>Some companies show </a:t>
            </a:r>
            <a:r>
              <a:rPr lang="en-US" sz="2000" b="1" dirty="0"/>
              <a:t>high workforce impact percentage</a:t>
            </a:r>
            <a:r>
              <a:rPr lang="en-US" sz="2000" dirty="0"/>
              <a:t> but lower absolute layoff numbers.</a:t>
            </a:r>
          </a:p>
          <a:p>
            <a:pPr marL="0" indent="0">
              <a:buNone/>
            </a:pPr>
            <a:r>
              <a:rPr lang="en-US" sz="2000" b="1" dirty="0"/>
              <a:t>Analysis:</a:t>
            </a:r>
          </a:p>
          <a:p>
            <a:r>
              <a:rPr lang="en-US" sz="2000" dirty="0"/>
              <a:t>This highlights the difference between </a:t>
            </a:r>
            <a:r>
              <a:rPr lang="en-US" sz="2000" b="1" dirty="0"/>
              <a:t>absolute impact</a:t>
            </a:r>
            <a:r>
              <a:rPr lang="en-US" sz="2000" dirty="0"/>
              <a:t> (total layoffs) and </a:t>
            </a:r>
            <a:r>
              <a:rPr lang="en-US" sz="2000" b="1" dirty="0"/>
              <a:t>relative impact</a:t>
            </a:r>
            <a:r>
              <a:rPr lang="en-US" sz="2000" dirty="0"/>
              <a:t> (percentage of workforce affected).</a:t>
            </a:r>
          </a:p>
          <a:p>
            <a:r>
              <a:rPr lang="en-US" sz="2000" dirty="0"/>
              <a:t>Large companies may lay off thousands of employees while affecting a small percentage, whereas smaller companies may lay off fewer employees but impact a larger portion of their workforce.</a:t>
            </a:r>
          </a:p>
          <a:p>
            <a:pPr marL="0" indent="0">
              <a:buNone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408304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7EF7144-619F-59B3-D0F3-A251A6942F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90" t="15928"/>
          <a:stretch>
            <a:fillRect/>
          </a:stretch>
        </p:blipFill>
        <p:spPr>
          <a:xfrm>
            <a:off x="481782" y="157316"/>
            <a:ext cx="10825316" cy="649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808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AC763-FBF3-0E04-508D-62B1C2F9E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31" y="184638"/>
            <a:ext cx="11274669" cy="599232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200" dirty="0"/>
              <a:t>6. </a:t>
            </a:r>
            <a:r>
              <a:rPr lang="en-IN" sz="2200" dirty="0"/>
              <a:t>Layoffs Trend Analysis (2022–2023)</a:t>
            </a:r>
          </a:p>
          <a:p>
            <a:pPr marL="0" indent="0">
              <a:buNone/>
            </a:pPr>
            <a:r>
              <a:rPr lang="en-US" sz="2200" b="1" dirty="0"/>
              <a:t>Findings</a:t>
            </a:r>
          </a:p>
          <a:p>
            <a:r>
              <a:rPr lang="en-US" sz="2200" dirty="0"/>
              <a:t>In </a:t>
            </a:r>
            <a:r>
              <a:rPr lang="en-US" sz="2200" b="1" dirty="0"/>
              <a:t>2022</a:t>
            </a:r>
            <a:r>
              <a:rPr lang="en-US" sz="2200" dirty="0"/>
              <a:t>, total layoffs were approximately </a:t>
            </a:r>
            <a:r>
              <a:rPr lang="en-US" sz="2200" b="1" dirty="0"/>
              <a:t>71,507</a:t>
            </a:r>
            <a:r>
              <a:rPr lang="en-US" sz="2200" dirty="0"/>
              <a:t>.</a:t>
            </a:r>
          </a:p>
          <a:p>
            <a:r>
              <a:rPr lang="en-US" sz="2200" dirty="0"/>
              <a:t>In </a:t>
            </a:r>
            <a:r>
              <a:rPr lang="en-US" sz="2200" b="1" dirty="0"/>
              <a:t>2023</a:t>
            </a:r>
            <a:r>
              <a:rPr lang="en-US" sz="2200" dirty="0"/>
              <a:t>, total layoffs slightly decreased to around </a:t>
            </a:r>
            <a:r>
              <a:rPr lang="en-US" sz="2200" b="1" dirty="0"/>
              <a:t>66,649</a:t>
            </a:r>
            <a:r>
              <a:rPr lang="en-US" sz="2200" dirty="0"/>
              <a:t>.</a:t>
            </a:r>
          </a:p>
          <a:p>
            <a:r>
              <a:rPr lang="en-US" sz="2200" dirty="0"/>
              <a:t>The trend shows a </a:t>
            </a:r>
            <a:r>
              <a:rPr lang="en-US" sz="2200" b="1" dirty="0"/>
              <a:t>marginal decline</a:t>
            </a:r>
            <a:r>
              <a:rPr lang="en-US" sz="2200" dirty="0"/>
              <a:t> in total layoffs from 2022 to 2023.</a:t>
            </a:r>
          </a:p>
          <a:p>
            <a:pPr marL="0" indent="0">
              <a:buNone/>
            </a:pPr>
            <a:br>
              <a:rPr lang="en-US" sz="2200" dirty="0"/>
            </a:b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Analysis</a:t>
            </a:r>
          </a:p>
          <a:p>
            <a:r>
              <a:rPr lang="en-US" sz="2200" dirty="0"/>
              <a:t>The peak in 2022 reflects the </a:t>
            </a:r>
            <a:r>
              <a:rPr lang="en-US" sz="2200" b="1" dirty="0"/>
              <a:t>initial correction phase</a:t>
            </a:r>
            <a:r>
              <a:rPr lang="en-US" sz="2200" dirty="0"/>
              <a:t> following rapid hiring during the pandemic.</a:t>
            </a:r>
          </a:p>
          <a:p>
            <a:r>
              <a:rPr lang="en-US" sz="2200" dirty="0"/>
              <a:t>The slight decline in 2023 suggests that companies began </a:t>
            </a:r>
            <a:r>
              <a:rPr lang="en-US" sz="2200" b="1" dirty="0"/>
              <a:t>stabilizing their workforce</a:t>
            </a:r>
            <a:r>
              <a:rPr lang="en-US" sz="2200" dirty="0"/>
              <a:t> after major restructuring.</a:t>
            </a:r>
          </a:p>
          <a:p>
            <a:r>
              <a:rPr lang="en-US" sz="2200" dirty="0"/>
              <a:t>The year-wise trend shows that layoffs peaked in 2022 and slightly decreased in 2023, indicating post-pandemic workforce correction.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55647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4B983-CA6A-E821-8A8F-8FEF12344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67149"/>
            <a:ext cx="9603275" cy="1081548"/>
          </a:xfrm>
        </p:spPr>
        <p:txBody>
          <a:bodyPr/>
          <a:lstStyle/>
          <a:p>
            <a:pPr algn="ctr"/>
            <a:r>
              <a:rPr lang="en-IN" b="1" dirty="0"/>
              <a:t>Results &amp; Visualization Screenshots in PYTHON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6BFC21-15F5-3D4A-2FE9-3BD8C45049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07" t="25966" r="30808" b="2863"/>
          <a:stretch>
            <a:fillRect/>
          </a:stretch>
        </p:blipFill>
        <p:spPr>
          <a:xfrm>
            <a:off x="0" y="1401097"/>
            <a:ext cx="6174658" cy="47342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F363C6-FEB0-6EF3-1492-40D127609F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58" t="27267" r="27742" b="1233"/>
          <a:stretch>
            <a:fillRect/>
          </a:stretch>
        </p:blipFill>
        <p:spPr>
          <a:xfrm>
            <a:off x="6253216" y="1401097"/>
            <a:ext cx="5860026" cy="47342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14549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3E816B-8BD7-71A2-7E0E-2DCAFEFBA4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54" t="25902" r="18672" b="3172"/>
          <a:stretch>
            <a:fillRect/>
          </a:stretch>
        </p:blipFill>
        <p:spPr>
          <a:xfrm>
            <a:off x="0" y="747251"/>
            <a:ext cx="5653548" cy="44245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61E750-11CB-81C8-E093-6AC7BFC813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3" t="28084" r="24274" b="1632"/>
          <a:stretch>
            <a:fillRect/>
          </a:stretch>
        </p:blipFill>
        <p:spPr>
          <a:xfrm>
            <a:off x="5751871" y="968477"/>
            <a:ext cx="6440129" cy="41197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844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F5B860-DF7A-55A8-D720-FF03AC53F8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62" t="25429" r="27437" b="2394"/>
          <a:stretch>
            <a:fillRect/>
          </a:stretch>
        </p:blipFill>
        <p:spPr>
          <a:xfrm>
            <a:off x="186812" y="599767"/>
            <a:ext cx="5555227" cy="461132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D5C105-65A7-4730-7C98-923373246F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61" t="26357" r="29759" b="2448"/>
          <a:stretch>
            <a:fillRect/>
          </a:stretch>
        </p:blipFill>
        <p:spPr>
          <a:xfrm>
            <a:off x="6204156" y="644011"/>
            <a:ext cx="5801032" cy="461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092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7BEB23-BE91-24B8-45A9-A4D924851B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18" t="31702" r="30241" b="20564"/>
          <a:stretch>
            <a:fillRect/>
          </a:stretch>
        </p:blipFill>
        <p:spPr>
          <a:xfrm>
            <a:off x="0" y="0"/>
            <a:ext cx="6548283" cy="43679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5FD266-F79F-7D4C-5D76-870D19C2F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52" t="25902" r="32258" b="3966"/>
          <a:stretch>
            <a:fillRect/>
          </a:stretch>
        </p:blipFill>
        <p:spPr>
          <a:xfrm>
            <a:off x="6548283" y="2315496"/>
            <a:ext cx="5643717" cy="45425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80605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B7833-309B-9B71-5C6E-6C115DAFD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462117"/>
            <a:ext cx="11552903" cy="5692876"/>
          </a:xfrm>
        </p:spPr>
        <p:txBody>
          <a:bodyPr>
            <a:normAutofit lnSpcReduction="10000"/>
          </a:bodyPr>
          <a:lstStyle/>
          <a:p>
            <a:r>
              <a:rPr lang="en-IN" dirty="0">
                <a:latin typeface="Bahnschrift SemiBold SemiConden" panose="020B0502040204020203" pitchFamily="34" charset="0"/>
              </a:rPr>
              <a:t>COMPANY – WISE TOTAL-LAYOFFS -  BAR PLOT</a:t>
            </a:r>
          </a:p>
          <a:p>
            <a:r>
              <a:rPr lang="en-IN" dirty="0">
                <a:latin typeface="Bahnschrift SemiBold SemiConden" panose="020B0502040204020203" pitchFamily="34" charset="0"/>
              </a:rPr>
              <a:t>INDUSTRY-WISE TOTAL LAYOFFS – BAR PLOT</a:t>
            </a:r>
          </a:p>
          <a:p>
            <a:r>
              <a:rPr lang="en-IN" dirty="0">
                <a:latin typeface="Bahnschrift SemiBold SemiConden" panose="020B0502040204020203" pitchFamily="34" charset="0"/>
              </a:rPr>
              <a:t>LOCATION –WISE  TOTAL LAYOFFS – BAR PLOT</a:t>
            </a:r>
          </a:p>
          <a:p>
            <a:r>
              <a:rPr lang="en-IN" dirty="0">
                <a:latin typeface="Bahnschrift SemiBold SemiConden" panose="020B0502040204020203" pitchFamily="34" charset="0"/>
              </a:rPr>
              <a:t>WORKFORCE IMPACT vs LAYOFFS – SCATTERPLOT</a:t>
            </a:r>
          </a:p>
          <a:p>
            <a:r>
              <a:rPr lang="en-IN" dirty="0">
                <a:latin typeface="Bahnschrift SemiBold SemiConden" panose="020B0502040204020203" pitchFamily="34" charset="0"/>
              </a:rPr>
              <a:t>PUBLIC   vs    PRIVATE   - BAR PLOT</a:t>
            </a:r>
          </a:p>
          <a:p>
            <a:r>
              <a:rPr lang="en-IN" dirty="0">
                <a:latin typeface="Bahnschrift SemiBold SemiConden" panose="020B0502040204020203" pitchFamily="34" charset="0"/>
              </a:rPr>
              <a:t>LAYOFFS TREND FROM 2022-2023 – LINE PLOT</a:t>
            </a:r>
          </a:p>
          <a:p>
            <a:r>
              <a:rPr lang="en-IN" dirty="0">
                <a:latin typeface="Bahnschrift SemiBold SemiConden" panose="020B0502040204020203" pitchFamily="34" charset="0"/>
              </a:rPr>
              <a:t>DISTRIBUTION OF WORKFORCE ERCENTAGE – HISTOGRAM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u="sng" dirty="0">
                <a:solidFill>
                  <a:srgbClr val="FF0000"/>
                </a:solidFill>
              </a:rPr>
              <a:t>Analysis </a:t>
            </a:r>
            <a:r>
              <a:rPr lang="en-IN" dirty="0">
                <a:solidFill>
                  <a:srgbClr val="FF0000"/>
                </a:solidFill>
              </a:rPr>
              <a:t>: </a:t>
            </a:r>
            <a:r>
              <a:rPr lang="en-US" dirty="0"/>
              <a:t>Very few companies have large layoffs (close to 7000)</a:t>
            </a:r>
            <a:endParaRPr lang="en-IN" dirty="0"/>
          </a:p>
          <a:p>
            <a:r>
              <a:rPr lang="en-IN" dirty="0">
                <a:latin typeface="Bahnschrift SemiBold SemiConden" panose="020B0502040204020203" pitchFamily="34" charset="0"/>
              </a:rPr>
              <a:t>DISTRIBUTION OF TOTAL LAYOFFS – HISTOGRAM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u="sng" dirty="0">
                <a:solidFill>
                  <a:srgbClr val="FF0000"/>
                </a:solidFill>
              </a:rPr>
              <a:t>Analysis : </a:t>
            </a:r>
            <a:r>
              <a:rPr lang="en-US" dirty="0"/>
              <a:t>most companies had a low workforce impact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These visualizations support and validate the insights obtained using Tableau.</a:t>
            </a:r>
          </a:p>
          <a:p>
            <a:pPr marL="0" indent="0">
              <a:buNone/>
            </a:pPr>
            <a:endParaRPr lang="en-IN" sz="2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12883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BB23D-DE7C-AC09-7A3B-FBDA9AF5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490"/>
            <a:ext cx="10515600" cy="688258"/>
          </a:xfrm>
        </p:spPr>
        <p:txBody>
          <a:bodyPr/>
          <a:lstStyle/>
          <a:p>
            <a:pPr algn="ctr"/>
            <a:r>
              <a:rPr lang="en-US" b="1" dirty="0"/>
              <a:t>CONCLUSIONS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87FA7-A32C-4C66-7AEF-E5F353AAE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6748"/>
            <a:ext cx="10515600" cy="5400215"/>
          </a:xfrm>
        </p:spPr>
        <p:txBody>
          <a:bodyPr>
            <a:noAutofit/>
          </a:bodyPr>
          <a:lstStyle/>
          <a:p>
            <a:r>
              <a:rPr lang="en-US" sz="1900" b="1" dirty="0"/>
              <a:t>Company Dominance:</a:t>
            </a:r>
            <a:r>
              <a:rPr lang="en-US" sz="1900" dirty="0"/>
              <a:t> Amazon recorded the highest number of layoffs (≈18,000), followed by Alphabet, Meta, and Microsoft, indicating that large technology firms were the most affected</a:t>
            </a:r>
          </a:p>
          <a:p>
            <a:pPr marL="0" indent="0">
              <a:buNone/>
            </a:pPr>
            <a:endParaRPr lang="en-US" sz="1900" dirty="0"/>
          </a:p>
          <a:p>
            <a:r>
              <a:rPr lang="en-US" sz="1900" b="1" dirty="0"/>
              <a:t>Industry Impact:</a:t>
            </a:r>
            <a:r>
              <a:rPr lang="en-US" sz="1900" dirty="0"/>
              <a:t> The </a:t>
            </a:r>
            <a:r>
              <a:rPr lang="en-US" sz="1900" b="1" dirty="0"/>
              <a:t>E-commerce sector</a:t>
            </a:r>
            <a:r>
              <a:rPr lang="en-US" sz="1900" dirty="0"/>
              <a:t> experienced the highest layoffs, followed by </a:t>
            </a:r>
            <a:r>
              <a:rPr lang="en-US" sz="1900" b="1" dirty="0"/>
              <a:t>Social Media</a:t>
            </a:r>
            <a:r>
              <a:rPr lang="en-US" sz="1900" dirty="0"/>
              <a:t>, highlighting the vulnerability of digital-first industries.</a:t>
            </a:r>
          </a:p>
          <a:p>
            <a:pPr marL="0" indent="0">
              <a:buNone/>
            </a:pPr>
            <a:endParaRPr lang="en-US" sz="1900" dirty="0"/>
          </a:p>
          <a:p>
            <a:r>
              <a:rPr lang="en-US" sz="1900" b="1" dirty="0"/>
              <a:t>Geographic Concentration:</a:t>
            </a:r>
            <a:r>
              <a:rPr lang="en-US" sz="1900" dirty="0"/>
              <a:t> Layoffs were heavily concentrated in </a:t>
            </a:r>
            <a:r>
              <a:rPr lang="en-US" sz="1900" b="1" dirty="0"/>
              <a:t>San Francisco and Seattle</a:t>
            </a:r>
            <a:r>
              <a:rPr lang="en-US" sz="1900" dirty="0"/>
              <a:t>, major technology hubs hosting global tech headquarters.</a:t>
            </a:r>
          </a:p>
          <a:p>
            <a:pPr marL="0" indent="0">
              <a:buNone/>
            </a:pPr>
            <a:endParaRPr lang="en-US" sz="1900" dirty="0"/>
          </a:p>
          <a:p>
            <a:r>
              <a:rPr lang="en-US" sz="1900" b="1" dirty="0"/>
              <a:t>Company Status Effect:</a:t>
            </a:r>
            <a:r>
              <a:rPr lang="en-US" sz="1900" dirty="0"/>
              <a:t> </a:t>
            </a:r>
            <a:r>
              <a:rPr lang="en-US" sz="1900" b="1" dirty="0"/>
              <a:t>Public companies</a:t>
            </a:r>
            <a:r>
              <a:rPr lang="en-US" sz="1900" dirty="0"/>
              <a:t> accounted for a significantly higher volume of layoffs (over 100,000) compared to private companies, reflecting greater market and investor pressure.</a:t>
            </a:r>
          </a:p>
          <a:p>
            <a:pPr marL="0" indent="0">
              <a:buNone/>
            </a:pPr>
            <a:endParaRPr lang="en-US" sz="1900" dirty="0"/>
          </a:p>
          <a:p>
            <a:r>
              <a:rPr lang="en-US" sz="1900" b="1" dirty="0"/>
              <a:t>Year-wise Trend:</a:t>
            </a:r>
            <a:r>
              <a:rPr lang="en-US" sz="1900" dirty="0"/>
              <a:t> Layoffs peaked in </a:t>
            </a:r>
            <a:r>
              <a:rPr lang="en-US" sz="1900" b="1" dirty="0"/>
              <a:t>2022 (71,507)</a:t>
            </a:r>
            <a:r>
              <a:rPr lang="en-US" sz="1900" dirty="0"/>
              <a:t> and showed a slight decline in </a:t>
            </a:r>
            <a:r>
              <a:rPr lang="en-US" sz="1900" b="1" dirty="0"/>
              <a:t>2023 (66,649)</a:t>
            </a:r>
            <a:r>
              <a:rPr lang="en-US" sz="1900" dirty="0"/>
              <a:t>, suggesting gradual workforce stabilization.</a:t>
            </a: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42799721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3C622-6262-F13E-5185-64F08AB27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DIAGNOISIS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6D04A-F459-BB52-DEE3-185670F79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primary cause of large-scale layoffs was </a:t>
            </a:r>
            <a:r>
              <a:rPr lang="en-US" b="1" dirty="0"/>
              <a:t>over-hiring during the pandemic period</a:t>
            </a:r>
            <a:r>
              <a:rPr lang="en-US" dirty="0"/>
              <a:t>, followed by a market slowdown.</a:t>
            </a:r>
          </a:p>
          <a:p>
            <a:r>
              <a:rPr lang="en-US" dirty="0"/>
              <a:t>Post-pandemic shifts in consumer behavior reduced demand for </a:t>
            </a:r>
            <a:r>
              <a:rPr lang="en-US" b="1" dirty="0"/>
              <a:t>digital-first services</a:t>
            </a:r>
            <a:r>
              <a:rPr lang="en-US" dirty="0"/>
              <a:t>, especially in E-commerce and Social Media.</a:t>
            </a:r>
          </a:p>
          <a:p>
            <a:r>
              <a:rPr lang="en-US" dirty="0"/>
              <a:t>Rising operational costs and pressure to improve profitability led companies to focus on </a:t>
            </a:r>
            <a:r>
              <a:rPr lang="en-US" b="1" dirty="0"/>
              <a:t>workforce optimization and efficiency</a:t>
            </a:r>
            <a:r>
              <a:rPr lang="en-US" dirty="0"/>
              <a:t>.</a:t>
            </a:r>
          </a:p>
          <a:p>
            <a:r>
              <a:rPr lang="en-US" dirty="0"/>
              <a:t>Public companies were more affected due to </a:t>
            </a:r>
            <a:r>
              <a:rPr lang="en-US" b="1" dirty="0"/>
              <a:t>investor expectations and quarterly performance pressure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68843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FF582-DB6D-FEEB-5486-D2A6199DE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FUTURE SCOPE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CBAB7C-8545-030A-82B7-97F05C6E18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478314"/>
            <a:ext cx="11128131" cy="304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analytics or machine learning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lang="en-US" sz="1800" dirty="0"/>
              <a:t>which companies might lay off next based on funding status.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and experience-level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understand which job categories are most impacted.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dashboards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continuous monitoring of workforce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r>
              <a:rPr lang="en-US" sz="1800" b="1" dirty="0"/>
              <a:t>Sentiment Analysis:</a:t>
            </a:r>
            <a:r>
              <a:rPr lang="en-US" sz="1800" dirty="0"/>
              <a:t> Scraping Twitter/X to see how employee morale changed during these layoff 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9360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29937-F136-07F2-8F3D-546C6B141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REFERENCES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7F7443-8538-AB19-A58F-36F5D17ED0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3539629"/>
            <a:ext cx="866628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Lee, R. (2024).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Layoffs.fyi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Kaggle.com: "Tech Layoffs 2022-2023" Repository.</a:t>
            </a:r>
          </a:p>
        </p:txBody>
      </p:sp>
    </p:spTree>
    <p:extLst>
      <p:ext uri="{BB962C8B-B14F-4D97-AF65-F5344CB8AC3E}">
        <p14:creationId xmlns:p14="http://schemas.microsoft.com/office/powerpoint/2010/main" val="25871662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890</TotalTime>
  <Words>2131</Words>
  <Application>Microsoft Office PowerPoint</Application>
  <PresentationFormat>Widescreen</PresentationFormat>
  <Paragraphs>256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Arial Unicode MS</vt:lpstr>
      <vt:lpstr>Bahnschrift Light</vt:lpstr>
      <vt:lpstr>Bahnschrift SemiBold SemiConden</vt:lpstr>
      <vt:lpstr>Calibri</vt:lpstr>
      <vt:lpstr>Gill Sans MT</vt:lpstr>
      <vt:lpstr>Wingdings</vt:lpstr>
      <vt:lpstr>Gallery</vt:lpstr>
      <vt:lpstr>Exploratory Data Analysis of IT Company Layoffs (2022–2023)</vt:lpstr>
      <vt:lpstr>PowerPoint Presentation</vt:lpstr>
      <vt:lpstr>ABSTRACT</vt:lpstr>
      <vt:lpstr>INTRODUCTION</vt:lpstr>
      <vt:lpstr>    PROBLEM STATEMENT</vt:lpstr>
      <vt:lpstr>PROPOSED SOLUTIONS</vt:lpstr>
      <vt:lpstr>PowerPoint Presentation</vt:lpstr>
      <vt:lpstr>OBJECTIVES</vt:lpstr>
      <vt:lpstr>DATASET DESIGN</vt:lpstr>
      <vt:lpstr>PowerPoint Presentation</vt:lpstr>
      <vt:lpstr>PowerPoint Presentation</vt:lpstr>
      <vt:lpstr>ALGORITHM</vt:lpstr>
      <vt:lpstr>BLOCK DIAGRAM</vt:lpstr>
      <vt:lpstr>SOFTWARE &amp; HARDWARE USED</vt:lpstr>
      <vt:lpstr>TOOLS &amp; TECHNOLOGIES</vt:lpstr>
      <vt:lpstr>WORKFLOW</vt:lpstr>
      <vt:lpstr>Results &amp; Visualization Screenshots in Tableau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&amp; Visualization Screenshots in PYTHON</vt:lpstr>
      <vt:lpstr>PowerPoint Presentation</vt:lpstr>
      <vt:lpstr>PowerPoint Presentation</vt:lpstr>
      <vt:lpstr>PowerPoint Presentation</vt:lpstr>
      <vt:lpstr>PowerPoint Presentation</vt:lpstr>
      <vt:lpstr>CONCLUSIONS</vt:lpstr>
      <vt:lpstr>DIAGNOISIS</vt:lpstr>
      <vt:lpstr>FUTURE SCOPE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shruti suresh</dc:creator>
  <cp:lastModifiedBy>shruti suresh</cp:lastModifiedBy>
  <cp:revision>1</cp:revision>
  <dcterms:created xsi:type="dcterms:W3CDTF">2026-01-19T10:04:00Z</dcterms:created>
  <dcterms:modified xsi:type="dcterms:W3CDTF">2026-02-10T15:19:07Z</dcterms:modified>
</cp:coreProperties>
</file>